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3" r:id="rId1"/>
  </p:sldMasterIdLst>
  <p:notesMasterIdLst>
    <p:notesMasterId r:id="rId35"/>
  </p:notesMasterIdLst>
  <p:sldIdLst>
    <p:sldId id="256" r:id="rId2"/>
    <p:sldId id="257" r:id="rId3"/>
    <p:sldId id="258" r:id="rId4"/>
    <p:sldId id="275" r:id="rId5"/>
    <p:sldId id="276" r:id="rId6"/>
    <p:sldId id="283" r:id="rId7"/>
    <p:sldId id="277" r:id="rId8"/>
    <p:sldId id="290" r:id="rId9"/>
    <p:sldId id="284" r:id="rId10"/>
    <p:sldId id="285" r:id="rId11"/>
    <p:sldId id="286" r:id="rId12"/>
    <p:sldId id="287" r:id="rId13"/>
    <p:sldId id="288" r:id="rId14"/>
    <p:sldId id="289" r:id="rId15"/>
    <p:sldId id="279" r:id="rId16"/>
    <p:sldId id="292" r:id="rId17"/>
    <p:sldId id="280" r:id="rId18"/>
    <p:sldId id="281" r:id="rId19"/>
    <p:sldId id="291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3" r:id="rId30"/>
    <p:sldId id="302" r:id="rId31"/>
    <p:sldId id="305" r:id="rId32"/>
    <p:sldId id="304" r:id="rId33"/>
    <p:sldId id="306" r:id="rId3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56"/>
    <p:restoredTop sz="94577"/>
  </p:normalViewPr>
  <p:slideViewPr>
    <p:cSldViewPr snapToGrid="0" snapToObjects="1">
      <p:cViewPr varScale="1">
        <p:scale>
          <a:sx n="116" d="100"/>
          <a:sy n="116" d="100"/>
        </p:scale>
        <p:origin x="1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/>
          </a:p>
        </p:txBody>
      </p:sp>
      <p:sp>
        <p:nvSpPr>
          <p:cNvPr id="50" name="Google Shape;50;p4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60bcf12a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60bcf12ab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g60bcf12ab7_0_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60bcf12a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60bcf12ab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g60bcf12ab7_0_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3112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59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817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620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377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830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590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94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010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427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563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60bcf12a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60bcf12ab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g60bcf12ab7_0_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662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807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1298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937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60bcf12a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60bcf12ab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g60bcf12ab7_0_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277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472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2551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11063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0548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032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60bcf12a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60bcf12ab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g60bcf12ab7_0_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4344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60bcf12a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60bcf12ab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g60bcf12ab7_0_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5486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60bcf12a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60bcf12ab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g60bcf12ab7_0_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9451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4047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7333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8241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74fb3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74fb3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7e74fb342a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278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1400"/>
              <a:buFont typeface="Arial"/>
              <a:buNone/>
              <a:defRPr sz="3600" b="1" i="0" u="none" strike="noStrike" cap="none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6858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14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14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14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14000"/>
              </a:lnSpc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14000"/>
              </a:lnSpc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00800" y="274319"/>
            <a:ext cx="2117406" cy="219455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415" cy="47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1400"/>
              <a:buFont typeface="Arial"/>
              <a:buNone/>
              <a:defRPr sz="2000" b="1" i="0" u="none" strike="noStrike" cap="none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67543" y="638639"/>
            <a:ext cx="8208899" cy="0"/>
          </a:xfrm>
          <a:prstGeom prst="straightConnector1">
            <a:avLst/>
          </a:prstGeom>
          <a:noFill/>
          <a:ln w="12700" cap="flat" cmpd="sng">
            <a:solidFill>
              <a:srgbClr val="0F0F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457200" y="764704"/>
            <a:ext cx="8229600" cy="536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" name="Google Shape;23;p3" descr="Untitl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16016" y="6386194"/>
            <a:ext cx="504056" cy="467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3"/>
          <p:cNvCxnSpPr/>
          <p:nvPr/>
        </p:nvCxnSpPr>
        <p:spPr>
          <a:xfrm>
            <a:off x="8566575" y="6506005"/>
            <a:ext cx="0" cy="227891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415" cy="47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1400"/>
              <a:buFont typeface="Arial"/>
              <a:buNone/>
              <a:defRPr sz="2000" b="1" i="0" u="none" strike="noStrike" cap="none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57200" y="750714"/>
            <a:ext cx="4040187" cy="35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457200" y="1196750"/>
            <a:ext cx="4040187" cy="492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3"/>
          </p:nvPr>
        </p:nvSpPr>
        <p:spPr>
          <a:xfrm>
            <a:off x="4645025" y="750714"/>
            <a:ext cx="4041773" cy="35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4"/>
          </p:nvPr>
        </p:nvSpPr>
        <p:spPr>
          <a:xfrm>
            <a:off x="4645025" y="1196750"/>
            <a:ext cx="4041773" cy="492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2" name="Google Shape;32;p4"/>
          <p:cNvCxnSpPr/>
          <p:nvPr/>
        </p:nvCxnSpPr>
        <p:spPr>
          <a:xfrm>
            <a:off x="467543" y="638639"/>
            <a:ext cx="8208899" cy="0"/>
          </a:xfrm>
          <a:prstGeom prst="straightConnector1">
            <a:avLst/>
          </a:prstGeom>
          <a:noFill/>
          <a:ln w="12700" cap="flat" cmpd="sng">
            <a:solidFill>
              <a:srgbClr val="0F0F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3" name="Google Shape;33;p4" descr="Untitl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16016" y="6386194"/>
            <a:ext cx="504056" cy="467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4"/>
          <p:cNvCxnSpPr/>
          <p:nvPr/>
        </p:nvCxnSpPr>
        <p:spPr>
          <a:xfrm>
            <a:off x="8566575" y="6506005"/>
            <a:ext cx="0" cy="227891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415" cy="47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 descr="Untitl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16016" y="6386194"/>
            <a:ext cx="504056" cy="467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38;p5"/>
          <p:cNvCxnSpPr/>
          <p:nvPr/>
        </p:nvCxnSpPr>
        <p:spPr>
          <a:xfrm>
            <a:off x="8566575" y="6506005"/>
            <a:ext cx="0" cy="227891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415" cy="47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type="picTx">
  <p:cSld name="PICTURE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399" cy="56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1400"/>
              <a:buFont typeface="Arial"/>
              <a:buNone/>
              <a:defRPr sz="2000" b="1" i="0" u="none" strike="noStrike" cap="none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4" name="Google Shape;44;p6" descr="Untitl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16016" y="6386194"/>
            <a:ext cx="504056" cy="467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6"/>
          <p:cNvCxnSpPr/>
          <p:nvPr/>
        </p:nvCxnSpPr>
        <p:spPr>
          <a:xfrm>
            <a:off x="8566575" y="6506005"/>
            <a:ext cx="0" cy="227891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415" cy="47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372139"/>
            <a:ext cx="9144000" cy="495599"/>
          </a:xfrm>
          <a:prstGeom prst="rect">
            <a:avLst/>
          </a:prstGeom>
          <a:solidFill>
            <a:srgbClr val="0F0F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F0F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1400"/>
              <a:buFont typeface="Arial"/>
              <a:buNone/>
              <a:defRPr sz="2000" b="1" i="0" u="none" strike="noStrike" cap="none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764704"/>
            <a:ext cx="8229600" cy="536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119550" y="6381907"/>
            <a:ext cx="7692810" cy="47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Architecture and Code Optimization (ARC) Laboratory @ SNU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if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ctrTitle"/>
          </p:nvPr>
        </p:nvSpPr>
        <p:spPr>
          <a:xfrm>
            <a:off x="326250" y="2411400"/>
            <a:ext cx="84915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000" dirty="0"/>
              <a:t>TensorFlow: A System for Large-Scale </a:t>
            </a:r>
            <a:br>
              <a:rPr lang="en-US" sz="3000" dirty="0"/>
            </a:br>
            <a:r>
              <a:rPr lang="en-US" sz="3000" dirty="0"/>
              <a:t>Machine Learning </a:t>
            </a:r>
            <a:br>
              <a:rPr lang="en-US" sz="3200" dirty="0"/>
            </a:br>
            <a:endParaRPr sz="3000" dirty="0"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685800" y="4191000"/>
            <a:ext cx="8062800" cy="1752600"/>
          </a:xfrm>
          <a:prstGeom prst="rect">
            <a:avLst/>
          </a:prstGeom>
          <a:noFill/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999999"/>
                </a:solidFill>
              </a:rPr>
              <a:t>Abadi et al.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999999"/>
                </a:solidFill>
              </a:rPr>
              <a:t>OSDI `1</a:t>
            </a:r>
            <a:r>
              <a:rPr lang="en-US" altLang="ko-KR" sz="1400" dirty="0">
                <a:solidFill>
                  <a:srgbClr val="999999"/>
                </a:solidFill>
              </a:rPr>
              <a:t>6</a:t>
            </a:r>
            <a:endParaRPr lang="en-US" sz="1400" dirty="0">
              <a:solidFill>
                <a:srgbClr val="999999"/>
              </a:solidFill>
            </a:endParaRPr>
          </a:p>
          <a:p>
            <a:pPr>
              <a:spcBef>
                <a:spcPts val="0"/>
              </a:spcBef>
            </a:pPr>
            <a:br>
              <a:rPr lang="en-US" sz="1400" dirty="0">
                <a:solidFill>
                  <a:srgbClr val="999999"/>
                </a:solidFill>
              </a:rPr>
            </a:br>
            <a:r>
              <a:rPr lang="en-US" sz="2200" b="1" dirty="0" err="1">
                <a:solidFill>
                  <a:schemeClr val="dk1"/>
                </a:solidFill>
              </a:rPr>
              <a:t>Yunho</a:t>
            </a:r>
            <a:r>
              <a:rPr lang="en-US" sz="2200" b="1" dirty="0">
                <a:solidFill>
                  <a:schemeClr val="dk1"/>
                </a:solidFill>
              </a:rPr>
              <a:t> </a:t>
            </a:r>
            <a:r>
              <a:rPr lang="en-US" sz="2200" b="1" dirty="0" err="1">
                <a:solidFill>
                  <a:schemeClr val="dk1"/>
                </a:solidFill>
              </a:rPr>
              <a:t>Jin</a:t>
            </a:r>
            <a:r>
              <a:rPr lang="en-US" sz="2200" b="1" dirty="0">
                <a:solidFill>
                  <a:schemeClr val="dk1"/>
                </a:solidFill>
              </a:rPr>
              <a:t>, Sam Son</a:t>
            </a:r>
            <a:endParaRPr sz="22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December 3</a:t>
            </a:r>
            <a:r>
              <a:rPr lang="en-US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20</a:t>
            </a:r>
            <a:r>
              <a:rPr lang="en-US" dirty="0">
                <a:solidFill>
                  <a:schemeClr val="dk1"/>
                </a:solidFill>
              </a:rPr>
              <a:t>20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73B2B-136C-FB49-A9A0-A2EA03ABFF07}"/>
              </a:ext>
            </a:extLst>
          </p:cNvPr>
          <p:cNvSpPr txBox="1"/>
          <p:nvPr/>
        </p:nvSpPr>
        <p:spPr>
          <a:xfrm>
            <a:off x="6055742" y="6167887"/>
            <a:ext cx="3088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 dirty="0">
                <a:solidFill>
                  <a:schemeClr val="bg1">
                    <a:lumMod val="50000"/>
                  </a:schemeClr>
                </a:solidFill>
              </a:rPr>
              <a:t>*Some of the figures are borrowed from Jeff Dean’s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7755622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/>
              <a:t>Introduction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Background &amp; Motivation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Tensorflow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Execution Model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Extensibility Case Studies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6868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 err="1"/>
              <a:t>Tensorflow</a:t>
            </a:r>
            <a:r>
              <a:rPr lang="en-US" sz="2000" dirty="0"/>
              <a:t> for experimenting with new models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/>
              <a:t>Unified dataflow graph 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/>
              <a:t>Applicable to diverse ML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sz="1800" dirty="0"/>
              <a:t>Paper focuses on training of NN</a:t>
            </a:r>
            <a:endParaRPr sz="1800" dirty="0"/>
          </a:p>
          <a:p>
            <a:pPr marL="914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9D830-812D-F340-85C7-AF0C0C54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357" y="2836657"/>
            <a:ext cx="6513286" cy="3256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7755622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Background &amp; Motivation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Tensorflow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Execution Model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Extensibility Case Studies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85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6868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/>
              <a:t>Previous system: </a:t>
            </a:r>
            <a:r>
              <a:rPr lang="en-US" sz="2000" dirty="0" err="1"/>
              <a:t>DistBelief</a:t>
            </a:r>
            <a:r>
              <a:rPr lang="ko-KR" altLang="en-US" sz="2000" dirty="0"/>
              <a:t> </a:t>
            </a:r>
            <a:r>
              <a:rPr lang="en-US" sz="1800" dirty="0"/>
              <a:t>Comprises of stateless worker and parameter server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sz="1800" dirty="0"/>
              <a:t>Each worker process sends updates to parameter server</a:t>
            </a:r>
            <a:endParaRPr lang="en-US" sz="2000"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8871DC-4957-5D4E-88F1-DEA0FBAA9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2205"/>
            <a:ext cx="3435350" cy="2692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0D03483-CF06-6243-A26A-5203AEC1CF19}"/>
              </a:ext>
            </a:extLst>
          </p:cNvPr>
          <p:cNvGrpSpPr/>
          <p:nvPr/>
        </p:nvGrpSpPr>
        <p:grpSpPr>
          <a:xfrm>
            <a:off x="4800600" y="3060039"/>
            <a:ext cx="3619500" cy="2968898"/>
            <a:chOff x="4800600" y="3353334"/>
            <a:chExt cx="3619500" cy="296889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A50AC2A-B067-9346-BA29-69135A382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5914" y="3429000"/>
              <a:ext cx="3554186" cy="289323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9041F8-D44C-9E4F-A88D-F68AE957B947}"/>
                </a:ext>
              </a:extLst>
            </p:cNvPr>
            <p:cNvSpPr/>
            <p:nvPr/>
          </p:nvSpPr>
          <p:spPr>
            <a:xfrm>
              <a:off x="4800600" y="3353334"/>
              <a:ext cx="239486" cy="184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</p:spTree>
    <p:extLst>
      <p:ext uri="{BB962C8B-B14F-4D97-AF65-F5344CB8AC3E}">
        <p14:creationId xmlns:p14="http://schemas.microsoft.com/office/powerpoint/2010/main" val="344328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6868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/>
              <a:t>Limitations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sz="1800" dirty="0"/>
              <a:t>Layer definitions</a:t>
            </a:r>
            <a:r>
              <a:rPr lang="ko-KR" altLang="en-US" sz="1800" dirty="0"/>
              <a:t> </a:t>
            </a:r>
            <a:endParaRPr lang="en-US" sz="1800" dirty="0"/>
          </a:p>
          <a:p>
            <a:pPr lvl="1" indent="-342900">
              <a:buSzPts val="1800"/>
              <a:buFont typeface="Arial"/>
              <a:buChar char="•"/>
            </a:pPr>
            <a:r>
              <a:rPr lang="en-US" sz="1800" dirty="0"/>
              <a:t>Refining training algorithms</a:t>
            </a:r>
            <a:endParaRPr lang="en-US" altLang="ko-KR" sz="1800" dirty="0"/>
          </a:p>
          <a:p>
            <a:pPr lvl="1" indent="-342900">
              <a:buSzPts val="1800"/>
              <a:buFont typeface="Arial"/>
              <a:buChar char="•"/>
            </a:pPr>
            <a:r>
              <a:rPr lang="en-US" sz="1800" dirty="0"/>
              <a:t>Defining training algorithms</a:t>
            </a:r>
            <a:endParaRPr sz="1800" dirty="0"/>
          </a:p>
          <a:p>
            <a:pPr marL="914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013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6868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/>
              <a:t>Design principles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sz="1800" dirty="0"/>
              <a:t>Flexibility</a:t>
            </a:r>
          </a:p>
          <a:p>
            <a:r>
              <a:rPr lang="en-US" sz="2000" dirty="0"/>
              <a:t>Dataflow graphs of primitive operators</a:t>
            </a:r>
            <a:endParaRPr lang="en-US" sz="1800" dirty="0"/>
          </a:p>
          <a:p>
            <a:pPr marL="914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4E8F9A-6087-424A-AB7C-20BA7CE99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11541"/>
            <a:ext cx="9144000" cy="3569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9DED38-A67E-D646-829F-83ECBE4722A4}"/>
              </a:ext>
            </a:extLst>
          </p:cNvPr>
          <p:cNvSpPr txBox="1"/>
          <p:nvPr/>
        </p:nvSpPr>
        <p:spPr>
          <a:xfrm>
            <a:off x="3933647" y="2802915"/>
            <a:ext cx="472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800" dirty="0"/>
              <a:t>Edges are N-dimensional arrays: </a:t>
            </a:r>
            <a:r>
              <a:rPr lang="en-KR" sz="1800" i="1" dirty="0"/>
              <a:t>tensors</a:t>
            </a:r>
          </a:p>
        </p:txBody>
      </p:sp>
    </p:spTree>
    <p:extLst>
      <p:ext uri="{BB962C8B-B14F-4D97-AF65-F5344CB8AC3E}">
        <p14:creationId xmlns:p14="http://schemas.microsoft.com/office/powerpoint/2010/main" val="305394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6868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Deferred execution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dirty="0"/>
              <a:t>Symbolic dataflow graph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dirty="0"/>
              <a:t>Optimization opportunity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dirty="0"/>
              <a:t>Distribute to devices</a:t>
            </a:r>
          </a:p>
          <a:p>
            <a:r>
              <a:rPr lang="en-US" sz="2000" dirty="0"/>
              <a:t>Abstraction for heterogeneous device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dirty="0"/>
              <a:t>Operators have multiple implementations for devices</a:t>
            </a:r>
          </a:p>
          <a:p>
            <a:r>
              <a:rPr lang="en-US" sz="2000" dirty="0"/>
              <a:t>PS tasks and worker tasks</a:t>
            </a:r>
          </a:p>
          <a:p>
            <a:pPr marL="914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75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907382-7AEB-BC49-9330-0867DCBCC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653"/>
            <a:ext cx="9144000" cy="514469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EBD7E2-48DE-1842-9462-B54DD6C8A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71280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DC22F3-59BD-4241-9757-B42A08617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653"/>
            <a:ext cx="9144000" cy="514469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EBD7E2-48DE-1842-9462-B54DD6C8A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450473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EBD7E2-48DE-1842-9462-B54DD6C8A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ED4364-F947-414E-9173-0DA0F1041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653"/>
            <a:ext cx="9144000" cy="514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89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EBD7E2-48DE-1842-9462-B54DD6C8A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7B4E37-1E60-D740-B538-3A8FD13BF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653"/>
            <a:ext cx="9144000" cy="514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29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EBD7E2-48DE-1842-9462-B54DD6C8A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7078D7-36AA-5146-AB52-B7A7006A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653"/>
            <a:ext cx="9144000" cy="514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64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Motivation</a:t>
            </a: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EBD7E2-48DE-1842-9462-B54DD6C8A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EBA25D-D8A9-A649-953B-F57839B55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653"/>
            <a:ext cx="9144000" cy="514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62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7755622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Background &amp; Motivation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Tensorflow</a:t>
            </a:r>
            <a:r>
              <a:rPr lang="en-US" sz="2000" dirty="0">
                <a:solidFill>
                  <a:schemeClr val="tx1"/>
                </a:solidFill>
              </a:rPr>
              <a:t> Execution Model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Extensibility Case Studies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213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Tensorflow</a:t>
            </a:r>
            <a:r>
              <a:rPr lang="en-US" dirty="0"/>
              <a:t> Execution Model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6868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Focusing on ”extensibility” and “flexibility”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dirty="0"/>
              <a:t>Let users can code what they want to do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en-US" sz="1800" dirty="0"/>
              <a:t>Dataflow graph elements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en-US" sz="1800" dirty="0"/>
              <a:t>Partial and Concurrent Execution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en-US" dirty="0"/>
              <a:t>Distributed Execution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en-US" sz="1800" dirty="0"/>
              <a:t>Dynamic Control Flow</a:t>
            </a:r>
          </a:p>
          <a:p>
            <a:pPr marL="914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103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altLang="ko-Kore-KR" dirty="0"/>
              <a:t>(1) Dataflow graph elements</a:t>
            </a:r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6868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/>
              <a:t>Tensors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dirty="0"/>
              <a:t>Variable shaped tensors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Operations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/>
              <a:t>Stateful operations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dirty="0"/>
              <a:t>Variables: mutable state parameters	</a:t>
            </a:r>
          </a:p>
          <a:p>
            <a:pPr lvl="1" indent="-342900">
              <a:buSzPts val="1800"/>
              <a:buFont typeface="Arial"/>
              <a:buChar char="•"/>
            </a:pPr>
            <a:r>
              <a:rPr lang="en-US" dirty="0"/>
              <a:t>Queues: stores states in queues</a:t>
            </a:r>
          </a:p>
          <a:p>
            <a:pPr marL="914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207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altLang="ko-Kore-KR" dirty="0"/>
              <a:t>(2) Partial and concurrent execution</a:t>
            </a:r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6868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/>
              <a:t>Utilizes subgraphs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Step: invocation of API for executing a graph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/>
              <a:t>Share data between steps with stateful operations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Concurrent execution subgraphs</a:t>
            </a:r>
            <a:endParaRPr sz="1800" dirty="0"/>
          </a:p>
          <a:p>
            <a:pPr marL="9144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1AFAD-900A-5A47-B6ED-5D8CC0E12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8175"/>
            <a:ext cx="9144000" cy="20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31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666EA-75C3-2645-9C9D-051C09DC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(3) Distributed Execution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EA106-51F9-A44C-BB76-B91E79FFE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ore-KR" dirty="0"/>
              <a:t>For DNN execution in heterogeneous computing system(CPU, GPU, TPU, …)</a:t>
            </a:r>
          </a:p>
          <a:p>
            <a:r>
              <a:rPr kumimoji="1" lang="en-US" altLang="ko-Kore-KR" dirty="0"/>
              <a:t>Per-device subgraph execution with additional </a:t>
            </a:r>
            <a:r>
              <a:rPr kumimoji="1" lang="en-US" altLang="ko-Kore-KR" b="0" dirty="0">
                <a:latin typeface="Consolas" panose="020B0609020204030204" pitchFamily="49" charset="0"/>
                <a:cs typeface="Consolas" panose="020B0609020204030204" pitchFamily="49" charset="0"/>
              </a:rPr>
              <a:t>Send</a:t>
            </a:r>
            <a:r>
              <a:rPr kumimoji="1" lang="en-US" altLang="ko-Kore-KR" dirty="0"/>
              <a:t>, </a:t>
            </a:r>
            <a:r>
              <a:rPr kumimoji="1" lang="en-US" altLang="ko-Kore-KR" b="0" dirty="0" err="1">
                <a:latin typeface="Consolas" panose="020B0609020204030204" pitchFamily="49" charset="0"/>
                <a:cs typeface="Consolas" panose="020B0609020204030204" pitchFamily="49" charset="0"/>
              </a:rPr>
              <a:t>Recv</a:t>
            </a:r>
            <a:endParaRPr kumimoji="1" lang="en-US" altLang="ko-Kore-KR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ko-Kore-KR" b="0" dirty="0">
                <a:latin typeface="Consolas" panose="020B0609020204030204" pitchFamily="49" charset="0"/>
                <a:cs typeface="Consolas" panose="020B0609020204030204" pitchFamily="49" charset="0"/>
              </a:rPr>
              <a:t>Send</a:t>
            </a:r>
            <a:r>
              <a:rPr kumimoji="1" lang="en-US" altLang="ko-Kore-KR" dirty="0"/>
              <a:t>, </a:t>
            </a:r>
            <a:r>
              <a:rPr kumimoji="1" lang="en-US" altLang="ko-Kore-KR" b="0" dirty="0" err="1">
                <a:latin typeface="Consolas" panose="020B0609020204030204" pitchFamily="49" charset="0"/>
                <a:cs typeface="Consolas" panose="020B0609020204030204" pitchFamily="49" charset="0"/>
              </a:rPr>
              <a:t>Recv</a:t>
            </a:r>
            <a:r>
              <a:rPr kumimoji="1" lang="en-US" altLang="ko-Kore-KR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ko-Kore-KR" dirty="0">
                <a:latin typeface="Arial" panose="020B0604020202020204" pitchFamily="34" charset="0"/>
                <a:cs typeface="Arial" panose="020B0604020202020204" pitchFamily="34" charset="0"/>
              </a:rPr>
              <a:t>are implemented for each pair of devices</a:t>
            </a:r>
            <a:endParaRPr kumimoji="1" lang="ko-Kore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15095D-7711-6C47-8701-8357FEAB1C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CEAE28-6B17-084D-B3BD-07574A7BF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9864"/>
            <a:ext cx="80391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6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666EA-75C3-2645-9C9D-051C09DC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(4) Dynamic Control Flow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EA106-51F9-A44C-BB76-B91E79FFE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ore-KR" dirty="0"/>
              <a:t>TF supports </a:t>
            </a:r>
            <a:r>
              <a:rPr kumimoji="1" lang="en-US" altLang="ko-KR" dirty="0"/>
              <a:t>dynamic control flow(DCF) for dataflow graph execution</a:t>
            </a:r>
            <a:endParaRPr kumimoji="1" lang="en-US" altLang="ko-Kore-KR" dirty="0"/>
          </a:p>
          <a:p>
            <a:r>
              <a:rPr kumimoji="1" lang="en-US" altLang="ko-Kore-KR" dirty="0"/>
              <a:t>DNNs such as RNN, LSTM benefit from DCF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en-US" altLang="ko-Kore-KR" dirty="0"/>
              <a:t>RNN cell should be unrolled to the length of the longest sequence without DCF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15095D-7711-6C47-8701-8357FEAB1C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0D06F0-B8D6-9C4E-9F99-DD381053C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6" y="3090742"/>
            <a:ext cx="6177516" cy="1620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58922A-D670-4C43-9467-F011444EBA0F}"/>
              </a:ext>
            </a:extLst>
          </p:cNvPr>
          <p:cNvSpPr txBox="1"/>
          <p:nvPr/>
        </p:nvSpPr>
        <p:spPr>
          <a:xfrm>
            <a:off x="2413591" y="4871223"/>
            <a:ext cx="4561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b="1" i="1" dirty="0"/>
              <a:t>NO DCF → Fixed Unrolling</a:t>
            </a:r>
          </a:p>
          <a:p>
            <a:r>
              <a:rPr kumimoji="1" lang="en-US" altLang="ko-Kore-KR" b="1" i="1" dirty="0"/>
              <a:t>DCF → No Unrolling, Exit at the End of Sequence</a:t>
            </a:r>
            <a:endParaRPr kumimoji="1" lang="ko-Kore-KR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4053105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7755622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Background &amp; Motivation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Tensorflow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Execution Model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Extensibility Case Studies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006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Extensibility Case Studies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The authors presented 4 example features to demonstrate the extensibility of TF.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/>
              <a:t>The following features can be implemented on the top of TF API open to users without modifying TF core.</a:t>
            </a:r>
          </a:p>
          <a:p>
            <a:pPr marL="1143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dirty="0"/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en-US" altLang="ko-Kore-KR" dirty="0"/>
              <a:t>Differentiation / Optimization(Auto-gradient calculation)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en-US" dirty="0"/>
              <a:t>Training Very Large Models(Embedding in LM)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en-US" dirty="0"/>
              <a:t>Fault Tolerance(Checkpointing)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en-US" dirty="0"/>
              <a:t>Synchronous Replica Coordination(Asynchronous SGD)</a:t>
            </a: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181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(1) Differentiation / Optimization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i="1" dirty="0"/>
              <a:t>Backpropagation</a:t>
            </a:r>
            <a:r>
              <a:rPr lang="en-US" sz="1800" dirty="0"/>
              <a:t> is a process computing gradients of a loss function </a:t>
            </a:r>
            <a:r>
              <a:rPr lang="en-US" sz="1800" dirty="0" err="1"/>
              <a:t>w.r.t</a:t>
            </a:r>
            <a:r>
              <a:rPr lang="en-US" sz="1800" dirty="0"/>
              <a:t> all parameters in the network</a:t>
            </a:r>
          </a:p>
          <a:p>
            <a:r>
              <a:rPr lang="en-US" dirty="0"/>
              <a:t>TF user-level library automatically produces backprop. code for a given neural network by identifying the structure of dataflow graph using BFS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A92929-180D-7546-A8F6-41EFBCDE1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45" y="3002973"/>
            <a:ext cx="4249541" cy="234000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EBE44CC-F51D-6C42-BEF9-4EF8E6175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686" y="3002973"/>
            <a:ext cx="39751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91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(2) Training Very Large Model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/>
              <a:t>Training </a:t>
            </a:r>
            <a:r>
              <a:rPr lang="en-US" dirty="0"/>
              <a:t>a language model(LM) for NLP is popular workload </a:t>
            </a:r>
            <a:endParaRPr lang="en-US" sz="1800" dirty="0"/>
          </a:p>
          <a:p>
            <a:r>
              <a:rPr lang="en-US" dirty="0"/>
              <a:t>It uses an </a:t>
            </a:r>
            <a:r>
              <a:rPr lang="en-US" i="1" dirty="0"/>
              <a:t>embedding matrix</a:t>
            </a:r>
            <a:r>
              <a:rPr lang="en-US" dirty="0"/>
              <a:t> which contains all encodings of words in the vocabulary list ~ up to tens of GB → distributed on multiple parameter servers</a:t>
            </a:r>
          </a:p>
          <a:p>
            <a:r>
              <a:rPr lang="en-US" dirty="0"/>
              <a:t>Each training iteration accesses few rows of an embedding </a:t>
            </a:r>
            <a:br>
              <a:rPr lang="en-US" dirty="0"/>
            </a:br>
            <a:r>
              <a:rPr lang="en-US" altLang="ko-Kore-KR" dirty="0"/>
              <a:t>→ sparse embedding layers</a:t>
            </a:r>
          </a:p>
          <a:p>
            <a:r>
              <a:rPr lang="en-US" dirty="0"/>
              <a:t>Gather extracts only requested rows and updates those in backprop.</a:t>
            </a:r>
          </a:p>
          <a:p>
            <a:endParaRPr lang="en-US" dirty="0"/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F85322-23CE-0F42-A525-D9BEF4B53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722" y="3981693"/>
            <a:ext cx="3933950" cy="20190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3CD2C8-D9DD-4F44-AF1D-136AF945F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02" y="4099949"/>
            <a:ext cx="47625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36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(3) Fault Tolerance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Training process is long and done by hundreds of nodes</a:t>
            </a:r>
          </a:p>
          <a:p>
            <a:pPr lvl="1"/>
            <a:r>
              <a:rPr lang="en-US" dirty="0"/>
              <a:t>Fault tolerance mechanism is required</a:t>
            </a:r>
          </a:p>
          <a:p>
            <a:r>
              <a:rPr lang="en-US" dirty="0"/>
              <a:t>User can choose to checkpoint parameter tensors periodically using 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Save</a:t>
            </a:r>
            <a:r>
              <a:rPr lang="en-US" b="0" dirty="0"/>
              <a:t>, 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Restore</a:t>
            </a:r>
            <a:r>
              <a:rPr lang="en-US" b="0" dirty="0"/>
              <a:t> </a:t>
            </a:r>
            <a:r>
              <a:rPr lang="en-US" dirty="0"/>
              <a:t>interface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740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(4) Synchronous Replica Coordination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SGD in distributed system: synchronous vs. asynchronous</a:t>
            </a:r>
          </a:p>
          <a:p>
            <a:r>
              <a:rPr lang="en-US" dirty="0"/>
              <a:t>Asynchronous SGD is good for performance but sometimes take longer time to converge</a:t>
            </a:r>
          </a:p>
          <a:p>
            <a:r>
              <a:rPr lang="en-US" dirty="0"/>
              <a:t>Synchronous SGD performance suffers from </a:t>
            </a:r>
            <a:r>
              <a:rPr lang="en-US" i="1" dirty="0"/>
              <a:t>straggler</a:t>
            </a:r>
          </a:p>
          <a:p>
            <a:r>
              <a:rPr lang="en-US" dirty="0"/>
              <a:t>Only takes first m of n updates produced – backup workers</a:t>
            </a:r>
          </a:p>
          <a:p>
            <a:endParaRPr lang="en-US" i="1"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9CBA458-6D06-EB4C-9E12-52130883F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3" y="3895360"/>
            <a:ext cx="8884274" cy="223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25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7755622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Background &amp; Motivation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Tensorflow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Execution Model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Extensibility Case Studies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Implementation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616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</a:t>
            </a:r>
            <a:endParaRPr dirty="0"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123D9D-7EC2-334B-BF1D-35160BFA3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493" y="1070331"/>
            <a:ext cx="5605307" cy="4717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EA8169-D59F-7143-AADF-7D3A9673C5F3}"/>
              </a:ext>
            </a:extLst>
          </p:cNvPr>
          <p:cNvSpPr txBox="1"/>
          <p:nvPr/>
        </p:nvSpPr>
        <p:spPr>
          <a:xfrm>
            <a:off x="1307940" y="2291788"/>
            <a:ext cx="2523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800" dirty="0"/>
              <a:t>API in C - portability</a:t>
            </a:r>
            <a:endParaRPr kumimoji="1" lang="ko-Kore-KR" alt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E4EC5-DE4A-4D49-8B4C-64DA9B30718F}"/>
              </a:ext>
            </a:extLst>
          </p:cNvPr>
          <p:cNvSpPr txBox="1"/>
          <p:nvPr/>
        </p:nvSpPr>
        <p:spPr>
          <a:xfrm>
            <a:off x="1307940" y="1521945"/>
            <a:ext cx="2523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800" dirty="0"/>
              <a:t>User-level Code</a:t>
            </a:r>
            <a:endParaRPr kumimoji="1" lang="ko-Kore-KR" alt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0A530-3748-8A4C-AEC6-D6FF76D3CAA8}"/>
              </a:ext>
            </a:extLst>
          </p:cNvPr>
          <p:cNvSpPr txBox="1"/>
          <p:nvPr/>
        </p:nvSpPr>
        <p:spPr>
          <a:xfrm>
            <a:off x="457200" y="2908145"/>
            <a:ext cx="33740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800" dirty="0"/>
              <a:t>Core in C++</a:t>
            </a:r>
          </a:p>
          <a:p>
            <a:pPr algn="just"/>
            <a:r>
              <a:rPr kumimoji="1" lang="en-US" altLang="ko-Kore-KR" sz="1800" dirty="0"/>
              <a:t>DM – Partition to subgraphs</a:t>
            </a:r>
          </a:p>
          <a:p>
            <a:pPr algn="just"/>
            <a:r>
              <a:rPr kumimoji="1" lang="en-US" altLang="ko-Kore-KR" sz="1800" dirty="0"/>
              <a:t>DE – Subgraph execution</a:t>
            </a:r>
          </a:p>
          <a:p>
            <a:r>
              <a:rPr kumimoji="1" lang="en-US" altLang="ko-Kore-KR" sz="1800" dirty="0"/>
              <a:t>Device-specific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ore-KR" sz="1800" dirty="0"/>
              <a:t>Kernels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ore-KR" sz="1800" dirty="0"/>
              <a:t>Send, </a:t>
            </a:r>
            <a:r>
              <a:rPr kumimoji="1" lang="en-US" altLang="ko-Kore-KR" sz="1800" dirty="0" err="1"/>
              <a:t>Recv</a:t>
            </a:r>
            <a:endParaRPr kumimoji="1" lang="ko-Kore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14361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7755622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Background &amp; Motivation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Tensorflow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Execution Model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Extensibility Case Studies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Evaluation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206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 (1) Single Machine Benchmark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“Scalability does not mask poor performance at small scales”</a:t>
            </a:r>
          </a:p>
          <a:p>
            <a:r>
              <a:rPr lang="en-US" dirty="0"/>
              <a:t>Benchmark on convolutional model performance</a:t>
            </a:r>
          </a:p>
          <a:p>
            <a:pPr lvl="1"/>
            <a:r>
              <a:rPr lang="en" altLang="ko-Kore-KR" dirty="0"/>
              <a:t>Six-core Intel Core i7- 5930K CPU at 3.5 GHz and an NVIDIA Titan X GPU </a:t>
            </a:r>
            <a:endParaRPr lang="en-US" dirty="0"/>
          </a:p>
          <a:p>
            <a:r>
              <a:rPr lang="en-US" dirty="0"/>
              <a:t>Comparable with single machine frameworks</a:t>
            </a:r>
          </a:p>
          <a:p>
            <a:pPr lvl="1"/>
            <a:r>
              <a:rPr lang="en-US" dirty="0"/>
              <a:t>Low framework overhead</a:t>
            </a:r>
          </a:p>
          <a:p>
            <a:pPr lvl="1"/>
            <a:r>
              <a:rPr lang="en-US" dirty="0"/>
              <a:t>Due to </a:t>
            </a:r>
            <a:r>
              <a:rPr lang="en-US" dirty="0" err="1"/>
              <a:t>cuDNN</a:t>
            </a:r>
            <a:r>
              <a:rPr lang="en-US" dirty="0"/>
              <a:t>, same performance w/ Torch</a:t>
            </a:r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469F98-4F01-754F-9043-A4A9D4CED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47" y="3715473"/>
            <a:ext cx="7314295" cy="211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88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 (</a:t>
            </a:r>
            <a:r>
              <a:rPr lang="en-US" altLang="ko-KR" dirty="0"/>
              <a:t>2</a:t>
            </a:r>
            <a:r>
              <a:rPr lang="en-US" dirty="0"/>
              <a:t>) Multi-Machine: Embedding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Measuring a coordination cost in multi-machine training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Scalar is an ideal performance</a:t>
            </a:r>
          </a:p>
          <a:p>
            <a:r>
              <a:rPr lang="en-US" dirty="0"/>
              <a:t>Sparse vs. Dense embedding</a:t>
            </a:r>
            <a:endParaRPr lang="en-US" altLang="ko-Kore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ore-KR" dirty="0"/>
              <a:t>Sparse shows consistent performance regardless of embedding table size</a:t>
            </a:r>
            <a:endParaRPr lang="en-US"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608C13-5B99-8945-9768-1811CF024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308" y="2619419"/>
            <a:ext cx="5156200" cy="347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01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 (</a:t>
            </a:r>
            <a:r>
              <a:rPr lang="en-US" altLang="ko-KR" dirty="0"/>
              <a:t>3</a:t>
            </a:r>
            <a:r>
              <a:rPr lang="en-US" dirty="0"/>
              <a:t>) Multi-Machine: Image Classification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Performance is scalable with multiple workers</a:t>
            </a:r>
          </a:p>
          <a:p>
            <a:r>
              <a:rPr lang="en-US" dirty="0"/>
              <a:t>Synchronous vs. Asynchronous SGD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Async. 10% better</a:t>
            </a:r>
          </a:p>
          <a:p>
            <a:r>
              <a:rPr lang="en-US" dirty="0"/>
              <a:t>Adequate number of backup workers cover performance drop</a:t>
            </a:r>
          </a:p>
          <a:p>
            <a:endParaRPr lang="en-US"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9BE625-7446-F848-8F86-8EC4C8810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84" y="2893281"/>
            <a:ext cx="8778032" cy="251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18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88640"/>
            <a:ext cx="82296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 (</a:t>
            </a:r>
            <a:r>
              <a:rPr lang="en-US" altLang="ko-KR" dirty="0"/>
              <a:t>4</a:t>
            </a:r>
            <a:r>
              <a:rPr lang="en-US" dirty="0"/>
              <a:t>) Multi-Machine: Language Model</a:t>
            </a:r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764700"/>
            <a:ext cx="8229600" cy="5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Uses technique in ”Training Very Large Model”</a:t>
            </a:r>
          </a:p>
          <a:p>
            <a:r>
              <a:rPr lang="en-US" dirty="0"/>
              <a:t>Sampled </a:t>
            </a:r>
            <a:r>
              <a:rPr lang="en-US" dirty="0" err="1"/>
              <a:t>softmax</a:t>
            </a:r>
            <a:r>
              <a:rPr lang="en-US" dirty="0"/>
              <a:t> uses 512 out of 40000 classes in computing loss function </a:t>
            </a:r>
          </a:p>
          <a:p>
            <a:r>
              <a:rPr lang="en-US" dirty="0"/>
              <a:t>More PS tasks increase the performance due to parallelization </a:t>
            </a:r>
          </a:p>
          <a:p>
            <a:endParaRPr lang="en-US"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04447" y="6381328"/>
            <a:ext cx="477300" cy="47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37F79D-CABD-0947-9697-E1C46ABF5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365" y="2728766"/>
            <a:ext cx="5255270" cy="288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13144"/>
      </p:ext>
    </p:extLst>
  </p:cSld>
  <p:clrMapOvr>
    <a:masterClrMapping/>
  </p:clrMapOvr>
</p:sld>
</file>

<file path=ppt/theme/theme1.xml><?xml version="1.0" encoding="utf-8"?>
<a:theme xmlns:a="http://schemas.openxmlformats.org/drawingml/2006/main" name="PAPL-gree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3929</TotalTime>
  <Words>892</Words>
  <Application>Microsoft Macintosh PowerPoint</Application>
  <PresentationFormat>On-screen Show (4:3)</PresentationFormat>
  <Paragraphs>407</Paragraphs>
  <Slides>33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Merriweather Sans</vt:lpstr>
      <vt:lpstr>Noto Sans Symbols</vt:lpstr>
      <vt:lpstr>Arial</vt:lpstr>
      <vt:lpstr>Consolas</vt:lpstr>
      <vt:lpstr>Courier New</vt:lpstr>
      <vt:lpstr>PAPL-green</vt:lpstr>
      <vt:lpstr>TensorFlow: A System for Large-Scale  Machine Learning  </vt:lpstr>
      <vt:lpstr>Contents</vt:lpstr>
      <vt:lpstr>Introduction</vt:lpstr>
      <vt:lpstr>Contents</vt:lpstr>
      <vt:lpstr>Background &amp; Motivation</vt:lpstr>
      <vt:lpstr>Background &amp; Motivation</vt:lpstr>
      <vt:lpstr>Background &amp; Motivation</vt:lpstr>
      <vt:lpstr>Background &amp; Motivation</vt:lpstr>
      <vt:lpstr>Background &amp; Motivation</vt:lpstr>
      <vt:lpstr>Background &amp; Motivation</vt:lpstr>
      <vt:lpstr>Background &amp; Motivation</vt:lpstr>
      <vt:lpstr>Background &amp; Motivation</vt:lpstr>
      <vt:lpstr>Background &amp; Motivation</vt:lpstr>
      <vt:lpstr>Background &amp; Motivation</vt:lpstr>
      <vt:lpstr>Contents</vt:lpstr>
      <vt:lpstr>Tensorflow Execution Model</vt:lpstr>
      <vt:lpstr>(1) Dataflow graph elements</vt:lpstr>
      <vt:lpstr>(2) Partial and concurrent execution</vt:lpstr>
      <vt:lpstr>(3) Distributed Execution</vt:lpstr>
      <vt:lpstr>(4) Dynamic Control Flow</vt:lpstr>
      <vt:lpstr>Contents</vt:lpstr>
      <vt:lpstr>Extensibility Case Studies</vt:lpstr>
      <vt:lpstr>(1) Differentiation / Optimization</vt:lpstr>
      <vt:lpstr>(2) Training Very Large Model</vt:lpstr>
      <vt:lpstr>(3) Fault Tolerance</vt:lpstr>
      <vt:lpstr>(4) Synchronous Replica Coordination</vt:lpstr>
      <vt:lpstr>Contents</vt:lpstr>
      <vt:lpstr>Implementation</vt:lpstr>
      <vt:lpstr>Contents</vt:lpstr>
      <vt:lpstr>Evaluation (1) Single Machine Benchmark</vt:lpstr>
      <vt:lpstr>Evaluation (2) Multi-Machine: Embedding</vt:lpstr>
      <vt:lpstr>Evaluation (3) Multi-Machine: Image Classification</vt:lpstr>
      <vt:lpstr>Evaluation (4) Multi-Machine: Language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HyGCN: A GCN Accelerator with Hybrid Architecture</dc:title>
  <cp:lastModifiedBy>진윤호</cp:lastModifiedBy>
  <cp:revision>60</cp:revision>
  <dcterms:modified xsi:type="dcterms:W3CDTF">2020-12-02T14:12:10Z</dcterms:modified>
</cp:coreProperties>
</file>