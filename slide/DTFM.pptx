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9" r:id="rId6"/>
    <p:sldId id="276" r:id="rId7"/>
    <p:sldId id="271" r:id="rId8"/>
    <p:sldId id="272" r:id="rId9"/>
    <p:sldId id="275" r:id="rId10"/>
    <p:sldId id="273" r:id="rId11"/>
    <p:sldId id="274" r:id="rId12"/>
    <p:sldId id="267" r:id="rId13"/>
    <p:sldId id="268" r:id="rId14"/>
    <p:sldId id="264" r:id="rId15"/>
    <p:sldId id="300" r:id="rId16"/>
    <p:sldId id="305" r:id="rId17"/>
    <p:sldId id="299" r:id="rId18"/>
    <p:sldId id="297" r:id="rId19"/>
    <p:sldId id="293" r:id="rId20"/>
    <p:sldId id="294" r:id="rId21"/>
    <p:sldId id="295" r:id="rId22"/>
    <p:sldId id="296" r:id="rId23"/>
    <p:sldId id="263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13" autoAdjust="0"/>
    <p:restoredTop sz="66050" autoAdjust="0"/>
  </p:normalViewPr>
  <p:slideViewPr>
    <p:cSldViewPr snapToGrid="0">
      <p:cViewPr varScale="1">
        <p:scale>
          <a:sx n="69" d="100"/>
          <a:sy n="69" d="100"/>
        </p:scale>
        <p:origin x="191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1648803-FC60-2897-EEA6-C4C91DD5B8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AD4091-BF01-6784-4043-BA8A89ED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DA6A2-2ACF-D840-958D-914AEC33EF33}" type="datetimeFigureOut">
              <a:rPr kumimoji="1" lang="ko-Kore-KR" altLang="en-US" smtClean="0"/>
              <a:t>10/12/2026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8721D7-D9D6-C92A-84BA-588DEF20C0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650017-797C-99DE-830F-F3FC0FFFB4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A15A5-8A7C-0A4C-8B9B-60156E9716D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529639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F2A4C-F9C8-4C43-B43D-0D30F8D1478C}" type="datetimeFigureOut">
              <a:rPr kumimoji="1" lang="ko-Kore-KR" altLang="en-US" smtClean="0"/>
              <a:t>10/12/2026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81020-CFBD-D94B-9B06-4AE9AE0E0DD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4514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766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altLang="ko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72414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52EE-B2EF-E8D7-B1FA-2B3AEDA90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D95BE-1854-7D9D-93B1-1D5FFB0AD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0EBAF-A0F5-7A14-B9B8-4D011F534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53328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97973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884174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661333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59506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906135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479380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227359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653801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2644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331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05177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6923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41952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4194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7983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340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3369-1DE1-6841-7D9A-F2AA9BB97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4DE3B1-D641-4DFF-414A-C321E27DF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6ABFCC-A920-FC6D-2108-746C3E35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8315-9281-DC40-ADCC-84857B7FB4E5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8D7B9-C8A1-62DF-1166-740EB8D8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7" name="그룹 8">
            <a:extLst>
              <a:ext uri="{FF2B5EF4-FFF2-40B4-BE49-F238E27FC236}">
                <a16:creationId xmlns:a16="http://schemas.microsoft.com/office/drawing/2014/main" id="{0425BE20-4420-2E88-110A-0EAE666DB7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392612" y="3509963"/>
            <a:ext cx="3406775" cy="2879725"/>
            <a:chOff x="2613025" y="3244850"/>
            <a:chExt cx="3406775" cy="2879725"/>
          </a:xfrm>
        </p:grpSpPr>
        <p:pic>
          <p:nvPicPr>
            <p:cNvPr id="8" name="그림 6">
              <a:extLst>
                <a:ext uri="{FF2B5EF4-FFF2-40B4-BE49-F238E27FC236}">
                  <a16:creationId xmlns:a16="http://schemas.microsoft.com/office/drawing/2014/main" id="{775E1648-5A28-33C3-3065-BDF1FF5FBA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3519938"/>
              <a:ext cx="2628900" cy="2374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12">
              <a:extLst>
                <a:ext uri="{FF2B5EF4-FFF2-40B4-BE49-F238E27FC236}">
                  <a16:creationId xmlns:a16="http://schemas.microsoft.com/office/drawing/2014/main" id="{73D1F49E-F7C9-CEB3-737A-76165521EF4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613025" y="3244850"/>
              <a:ext cx="3406775" cy="2879725"/>
            </a:xfrm>
            <a:prstGeom prst="rect">
              <a:avLst/>
            </a:prstGeom>
            <a:solidFill>
              <a:schemeClr val="bg1">
                <a:alpha val="83136"/>
              </a:schemeClr>
            </a:solidFill>
            <a:ln w="9525" algn="ctr">
              <a:solidFill>
                <a:schemeClr val="bg1">
                  <a:alpha val="30196"/>
                </a:schemeClr>
              </a:solidFill>
              <a:round/>
              <a:headEnd/>
              <a:tailEnd/>
            </a:ln>
          </p:spPr>
          <p:txBody>
            <a:bodyPr/>
            <a:lstStyle>
              <a:lvl1pPr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kumimoji="0" lang="ko-KR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17557-0874-F1E3-34BB-C18CA52C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41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0E16632-D8D0-6110-BE0D-D9236E95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36000"/>
            <a:ext cx="11552400" cy="892800"/>
          </a:xfrm>
        </p:spPr>
        <p:txBody>
          <a:bodyPr>
            <a:noAutofit/>
          </a:bodyPr>
          <a:lstStyle>
            <a:lvl1pPr>
              <a:defRPr sz="28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F68674-16F9-7B6A-7859-5694AC45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00" y="1206000"/>
            <a:ext cx="11552400" cy="4696412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CB2F641-80CF-7611-AC46-808E9E6B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1200" y="6357600"/>
            <a:ext cx="2743200" cy="365125"/>
          </a:xfrm>
        </p:spPr>
        <p:txBody>
          <a:bodyPr/>
          <a:lstStyle>
            <a:lvl1pPr>
              <a:defRPr sz="1400" b="0">
                <a:solidFill>
                  <a:schemeClr val="tx1"/>
                </a:solidFill>
              </a:defRPr>
            </a:lvl1pPr>
          </a:lstStyle>
          <a:p>
            <a:fld id="{E360697E-0CA9-4141-9D01-A44F280E345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C741B71-641E-D15F-F593-0271BE15926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910800"/>
            <a:ext cx="12240000" cy="648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wrap="none" anchor="ctr"/>
          <a:lstStyle>
            <a:lvl1pPr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Comic Sans MS" panose="030F0702030302020204" pitchFamily="66" charset="0"/>
              <a:cs typeface="Arial" panose="020B0604020202020204" pitchFamily="34" charset="0"/>
            </a:endParaRPr>
          </a:p>
        </p:txBody>
      </p:sp>
      <p:cxnSp>
        <p:nvCxnSpPr>
          <p:cNvPr id="21" name="직선 연결선 19">
            <a:extLst>
              <a:ext uri="{FF2B5EF4-FFF2-40B4-BE49-F238E27FC236}">
                <a16:creationId xmlns:a16="http://schemas.microsoft.com/office/drawing/2014/main" id="{6CA61F90-611A-02F7-2532-D75EF4132C1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0" y="6130800"/>
            <a:ext cx="12240000" cy="1588"/>
          </a:xfrm>
          <a:prstGeom prst="line">
            <a:avLst/>
          </a:prstGeom>
          <a:noFill/>
          <a:ln w="28575">
            <a:solidFill>
              <a:srgbClr val="0E117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3D0D57-952D-A450-EC70-7864EFA92AF3}"/>
              </a:ext>
            </a:extLst>
          </p:cNvPr>
          <p:cNvGrpSpPr/>
          <p:nvPr userDrawn="1"/>
        </p:nvGrpSpPr>
        <p:grpSpPr>
          <a:xfrm>
            <a:off x="172800" y="6289200"/>
            <a:ext cx="1450975" cy="382587"/>
            <a:chOff x="22225" y="6453188"/>
            <a:chExt cx="1450975" cy="382587"/>
          </a:xfrm>
        </p:grpSpPr>
        <p:pic>
          <p:nvPicPr>
            <p:cNvPr id="22" name="그림 12">
              <a:extLst>
                <a:ext uri="{FF2B5EF4-FFF2-40B4-BE49-F238E27FC236}">
                  <a16:creationId xmlns:a16="http://schemas.microsoft.com/office/drawing/2014/main" id="{6CB7470C-2634-0BC9-DA00-EC56A8FF11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25" y="6477000"/>
              <a:ext cx="398463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그림 11">
              <a:extLst>
                <a:ext uri="{FF2B5EF4-FFF2-40B4-BE49-F238E27FC236}">
                  <a16:creationId xmlns:a16="http://schemas.microsoft.com/office/drawing/2014/main" id="{B0B51374-95FD-5005-AE2F-EF0CCFEB0B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975" y="6453188"/>
              <a:ext cx="1038225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19652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62E94-66B7-B860-B97F-9C1E3FDD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EAD69D-9A2B-8A40-AF97-4AA6C19CD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1D645-2A41-35FF-5472-2DCB3E94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7632B-2E03-1C4B-8576-08EACC1B40CD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A2CC3-7533-19C0-3D81-D567E0E1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9BAEEF-D2EF-9DD6-993C-882F8E6B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89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CECE5-0C9A-2DAC-1C16-63C925B7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97D03D-4E8A-E2F5-6C46-6ABE21BBB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F43254-54D7-0112-F327-B7F9763DA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E18913-7D36-5BE0-A0A2-82827F78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25CF-FA89-6941-BDCB-FA9716E3E94B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3D0468-462E-BFFF-1965-94B16640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E73811-2620-0693-72E2-B924ABA1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03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4C2AD-256F-0E8C-D09F-BEC5E86A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E7B7FB-274C-EC58-0554-377B14E9B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EB2528-3F3F-4836-DCA3-A036CF942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6B8944-C139-252A-9D98-DC6B58C52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9E9F9D-11D7-F5D5-77D7-0FD2B70C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E93A20-FB99-AAD4-9C53-ADF1D857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7E80-188E-E54A-8A15-B70B1F0B0713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900DAC-CE7D-D3A2-2F86-E9F50F40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7C2AC1-EF35-4574-EE27-5188461D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59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0AC338-D82A-F544-57EA-F3E538E9B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FE89A0-5831-7BAF-6C84-E6BFA6E40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C767-CCF6-4049-9473-014FCEC8CE4E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CEB561-9285-9DAB-FF81-FD4A0F20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6EEE39-A8B0-7701-D92D-15CBE79B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65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4879F7-A5C7-1418-1279-4B06CB1D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194EF-2C4D-C44F-9DF7-1352B485B3FF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976E80-D600-8522-B668-4F0D2AC5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E973B3-FBD5-1846-8141-9E7B3524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75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0373D-02F1-F00B-283A-B1424B5B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C26D5-C8F5-A248-93D8-33B17478F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660485-4E30-F440-D1D8-1B7EB2FC6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BC0491-383B-C8B8-073B-553BBBB6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A2F6B-3EC3-8842-8E8D-96DA70ED6A14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366C1A-B134-AD4F-7F7E-43382D54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87D0D4-0241-3EB5-DD8D-AF6DC4A8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55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1CC46-7238-0C3B-4691-E0211857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1A3C87-32DE-07E7-864D-AD0C08DB0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DE86B4-B8F3-E22B-2C76-690720A48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9ADD26-9D2F-1CD3-B94E-2F9F0BA0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A21D-F2DA-8E4E-96EE-0F95AFE81D7F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7A3C6B-7827-7D66-16A0-A0F0B206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C35915-EB07-DEB1-6965-C3B0E2EB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17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305A0-4146-9871-3AB4-3278254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31204A-F51F-2BED-A12F-879797797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431523-1011-9744-83AD-5141244C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5AA79-E836-3A44-AE47-C69E7494FDD9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E85732-4302-7C53-77D0-2EFE8F88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38817-416F-96DB-3859-596D8223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82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4F47D1-DF8C-10DC-A3B8-940673CB9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78D484-1476-5FDD-EDE1-3FB2F01A9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99678-802E-88C2-BA67-808FD75AD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EE8B8-38F9-3442-9B88-08A023845748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715B28-0B87-5628-6D7D-09095406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D9EA4-A2E0-1C7D-2675-B6E45DB7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94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30F551-6F7A-FE7B-0266-759794C7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5EC962-F108-96B9-BD0B-3DB188610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92A8B-7A53-F31E-5A39-52570002B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53874-8994-A84F-802A-820340EE7195}" type="datetime1">
              <a:rPr lang="ko-Kore-KR" altLang="en-US" smtClean="0"/>
              <a:t>10/12/2026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BAC224-A53A-E30D-6920-05C779CF2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13ECC-B199-EE74-99E6-2DBCC3A02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6D506-1443-4600-8F2E-8AA62471D0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01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7013E-5A15-6BF1-1651-69E1403AB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9960"/>
            <a:ext cx="9334500" cy="17973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 dirty="0"/>
              <a:t>Decentralized Training of Foundation Models in Heterogeneous Environments</a:t>
            </a:r>
            <a:endParaRPr lang="ko-KR" altLang="en-US" sz="36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CB85DA-FCA2-47DD-E5A3-7712B64AB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4828"/>
            <a:ext cx="9144000" cy="1214187"/>
          </a:xfrm>
        </p:spPr>
        <p:txBody>
          <a:bodyPr>
            <a:normAutofit/>
          </a:bodyPr>
          <a:lstStyle/>
          <a:p>
            <a:r>
              <a:rPr lang="en-US" altLang="ko-KR" sz="2000" b="1" dirty="0"/>
              <a:t>2026. 10. 07</a:t>
            </a:r>
          </a:p>
          <a:p>
            <a:r>
              <a:rPr lang="en-US" altLang="ko-KR" sz="2000" b="1" dirty="0"/>
              <a:t>2026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Fall,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Distributed Systems</a:t>
            </a:r>
          </a:p>
          <a:p>
            <a:r>
              <a:rPr lang="ko-KR" altLang="en-US" sz="2000" b="1" dirty="0"/>
              <a:t>장수호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 이지은 </a:t>
            </a:r>
          </a:p>
        </p:txBody>
      </p:sp>
      <p:grpSp>
        <p:nvGrpSpPr>
          <p:cNvPr id="4" name="Google Shape;19;p9">
            <a:extLst>
              <a:ext uri="{FF2B5EF4-FFF2-40B4-BE49-F238E27FC236}">
                <a16:creationId xmlns:a16="http://schemas.microsoft.com/office/drawing/2014/main" id="{549764D6-2878-C1A3-E134-90AD83C3BE33}"/>
              </a:ext>
            </a:extLst>
          </p:cNvPr>
          <p:cNvGrpSpPr/>
          <p:nvPr/>
        </p:nvGrpSpPr>
        <p:grpSpPr>
          <a:xfrm>
            <a:off x="9877502" y="128323"/>
            <a:ext cx="2160000" cy="540000"/>
            <a:chOff x="7313613" y="6350"/>
            <a:chExt cx="1755775" cy="450850"/>
          </a:xfrm>
        </p:grpSpPr>
        <p:pic>
          <p:nvPicPr>
            <p:cNvPr id="5" name="Google Shape;20;p9">
              <a:extLst>
                <a:ext uri="{FF2B5EF4-FFF2-40B4-BE49-F238E27FC236}">
                  <a16:creationId xmlns:a16="http://schemas.microsoft.com/office/drawing/2014/main" id="{BA4E4405-E44F-B734-7BB3-E6EAE93B279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13613" y="42863"/>
              <a:ext cx="458787" cy="4143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21;p9">
              <a:extLst>
                <a:ext uri="{FF2B5EF4-FFF2-40B4-BE49-F238E27FC236}">
                  <a16:creationId xmlns:a16="http://schemas.microsoft.com/office/drawing/2014/main" id="{973AB84C-646B-20A8-BEC5-AA6EA4BC1C2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72400" y="6350"/>
              <a:ext cx="1296988" cy="450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18;p9">
            <a:extLst>
              <a:ext uri="{FF2B5EF4-FFF2-40B4-BE49-F238E27FC236}">
                <a16:creationId xmlns:a16="http://schemas.microsoft.com/office/drawing/2014/main" id="{710BDA41-721C-26A7-81E4-7C8F09190541}"/>
              </a:ext>
            </a:extLst>
          </p:cNvPr>
          <p:cNvSpPr/>
          <p:nvPr/>
        </p:nvSpPr>
        <p:spPr>
          <a:xfrm>
            <a:off x="1224793" y="3416781"/>
            <a:ext cx="9753600" cy="35703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F2917-9E9D-FD72-71BB-60FE2DFE2EB2}"/>
              </a:ext>
            </a:extLst>
          </p:cNvPr>
          <p:cNvSpPr txBox="1"/>
          <p:nvPr/>
        </p:nvSpPr>
        <p:spPr>
          <a:xfrm>
            <a:off x="632946" y="3598368"/>
            <a:ext cx="12301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dirty="0"/>
              <a:t>Yuan et al. </a:t>
            </a:r>
            <a:r>
              <a:rPr lang="en-KR" i="1" dirty="0"/>
              <a:t>Decentralized Training of Foundation Models in Heterogeneous Environments</a:t>
            </a:r>
            <a:r>
              <a:rPr lang="en-KR" dirty="0"/>
              <a:t>. NeurIPS 2022.</a:t>
            </a:r>
          </a:p>
        </p:txBody>
      </p:sp>
    </p:spTree>
    <p:extLst>
      <p:ext uri="{BB962C8B-B14F-4D97-AF65-F5344CB8AC3E}">
        <p14:creationId xmlns:p14="http://schemas.microsoft.com/office/powerpoint/2010/main" val="1653352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271D-48FF-003D-C56F-B92FA5BC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4783FDE0-C392-2505-B453-BB25CA84B504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82D8F66E-CD7B-E6F5-F3CA-A058731953BA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Contents</a:t>
            </a:r>
            <a:endParaRPr lang="ko-KR" altLang="en-US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AD8FB255-7D2D-1F2C-3AD8-3ED4722C5BE9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003E22-71B9-CA66-2449-1E29719C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D4857942-7067-9BC2-F8BC-47E9FE07D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68" y="1196680"/>
            <a:ext cx="9484632" cy="4464640"/>
          </a:xfrm>
        </p:spPr>
        <p:txBody>
          <a:bodyPr>
            <a:normAutofit fontScale="92500" lnSpcReduction="10000"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100" b="1" dirty="0"/>
              <a:t> Introduction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sz="2000" b="1" dirty="0"/>
              <a:t>	- </a:t>
            </a:r>
            <a:r>
              <a:rPr lang="en-US" altLang="ko-KR" sz="2000" dirty="0"/>
              <a:t>Background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/>
              <a:t> Problem Formulation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/>
              <a:t> Overview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/>
              <a:t> Scheduling Algorithm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sz="2000" dirty="0"/>
              <a:t>	- Cost Model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sz="2000" b="1" dirty="0"/>
              <a:t>	</a:t>
            </a:r>
            <a:r>
              <a:rPr lang="en-US" sz="2000" dirty="0"/>
              <a:t>- HGA 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/>
              <a:t> System optimization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/>
              <a:t> Experiments and Results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sz="2000" b="1" dirty="0"/>
              <a:t> Conclusion</a:t>
            </a:r>
          </a:p>
          <a:p>
            <a:pPr marL="0" indent="0" latinLnBrk="0">
              <a:lnSpc>
                <a:spcPct val="120000"/>
              </a:lnSpc>
              <a:buNone/>
            </a:pPr>
            <a:endParaRPr lang="en-US" sz="2400" dirty="0"/>
          </a:p>
          <a:p>
            <a:pPr lvl="1" latinLnBrk="0"/>
            <a:endParaRPr lang="en-KR" sz="1800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FEE56ED3-996F-09F7-96C1-2DC07C5FE187}"/>
              </a:ext>
            </a:extLst>
          </p:cNvPr>
          <p:cNvSpPr txBox="1">
            <a:spLocks/>
          </p:cNvSpPr>
          <p:nvPr/>
        </p:nvSpPr>
        <p:spPr>
          <a:xfrm>
            <a:off x="334860" y="2823732"/>
            <a:ext cx="11485228" cy="1552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91303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C6E8-D2B3-F120-CCB1-921F033D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2DC9F38C-96BD-2B02-2C35-6CE6BA4D3F93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4FC62998-6202-3F2C-ECB5-D85D2B5EA4BE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Background 1 – Decentralized Training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28A0CF8D-D821-7AAB-567D-3FE1283F1079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A6EE0C-34A5-7076-43A4-3A027A1F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4985BA13-2393-3E3E-0F56-B07B51E8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60" y="1205706"/>
            <a:ext cx="11485228" cy="1552242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High Cost of Foundation Model Training</a:t>
            </a:r>
          </a:p>
          <a:p>
            <a:pPr lvl="1" latinLnBrk="0"/>
            <a:r>
              <a:rPr lang="en-US" sz="2000" dirty="0"/>
              <a:t>Large parameter counts require multiple forms of parallelism</a:t>
            </a:r>
          </a:p>
          <a:p>
            <a:pPr lvl="1" latinLnBrk="0"/>
            <a:r>
              <a:rPr lang="en-US" sz="2000" dirty="0"/>
              <a:t>State of the art(SOTA) systems(e.g., Megatron, </a:t>
            </a:r>
            <a:r>
              <a:rPr lang="en-US" sz="2000" dirty="0" err="1"/>
              <a:t>DeepSpeed</a:t>
            </a:r>
            <a:r>
              <a:rPr lang="en-US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are tailored to </a:t>
            </a:r>
            <a:r>
              <a:rPr lang="en-US" sz="2000" u="sng" dirty="0"/>
              <a:t>fast, homogeneous data center networks</a:t>
            </a:r>
          </a:p>
          <a:p>
            <a:pPr lvl="1" latinLnBrk="0"/>
            <a:endParaRPr lang="en-US" dirty="0"/>
          </a:p>
          <a:p>
            <a:pPr lvl="1" latinLnBrk="0"/>
            <a:endParaRPr lang="en-KR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A17EF6AD-483E-5B95-65F9-AD4A1AA007FB}"/>
              </a:ext>
            </a:extLst>
          </p:cNvPr>
          <p:cNvSpPr txBox="1">
            <a:spLocks/>
          </p:cNvSpPr>
          <p:nvPr/>
        </p:nvSpPr>
        <p:spPr>
          <a:xfrm>
            <a:off x="334860" y="2823732"/>
            <a:ext cx="11485228" cy="1552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Decentralization: Underutilized GPU Resources</a:t>
            </a:r>
          </a:p>
          <a:p>
            <a:pPr lvl="1" latinLnBrk="0"/>
            <a:r>
              <a:rPr lang="en-US" sz="2000" dirty="0"/>
              <a:t>Volunteer GPUs could offer a lower-cost alternative for FM training</a:t>
            </a:r>
          </a:p>
          <a:p>
            <a:pPr lvl="1" latinLnBrk="0"/>
            <a:endParaRPr lang="en-US" dirty="0"/>
          </a:p>
          <a:p>
            <a:pPr lvl="1" latinLnBrk="0"/>
            <a:endParaRPr lang="en-KR" dirty="0"/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03AAE88A-B234-9874-03EB-D626043D0D37}"/>
              </a:ext>
            </a:extLst>
          </p:cNvPr>
          <p:cNvSpPr txBox="1">
            <a:spLocks/>
          </p:cNvSpPr>
          <p:nvPr/>
        </p:nvSpPr>
        <p:spPr>
          <a:xfrm>
            <a:off x="334860" y="4320781"/>
            <a:ext cx="11485228" cy="1108744"/>
          </a:xfrm>
          <a:prstGeom prst="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20000"/>
              </a:lnSpc>
              <a:buNone/>
            </a:pPr>
            <a:r>
              <a:rPr lang="en-US" altLang="ko-KR" sz="2200" b="1" dirty="0"/>
              <a:t>Research Challenge </a:t>
            </a:r>
          </a:p>
          <a:p>
            <a:pPr marL="0" indent="0" algn="ctr" latinLnBrk="0">
              <a:lnSpc>
                <a:spcPct val="120000"/>
              </a:lnSpc>
              <a:buNone/>
            </a:pPr>
            <a:r>
              <a:rPr lang="en-US" altLang="ko-KR" sz="2000" dirty="0"/>
              <a:t>Support</a:t>
            </a:r>
            <a:r>
              <a:rPr lang="ko-KR" altLang="en-US" sz="2000" dirty="0"/>
              <a:t> </a:t>
            </a:r>
            <a:r>
              <a:rPr lang="en-US" altLang="ko-KR" sz="2000" dirty="0"/>
              <a:t>strategies</a:t>
            </a:r>
            <a:r>
              <a:rPr lang="ko-KR" altLang="en-US" sz="2000" dirty="0"/>
              <a:t> </a:t>
            </a:r>
            <a:r>
              <a:rPr lang="en-US" altLang="ko-KR" sz="2000" dirty="0"/>
              <a:t>for training foundation models over</a:t>
            </a:r>
            <a:r>
              <a:rPr lang="ko-KR" altLang="en-US" sz="2000" dirty="0"/>
              <a:t> </a:t>
            </a:r>
            <a:r>
              <a:rPr lang="en-US" altLang="ko-KR" sz="2000" u="sng" dirty="0"/>
              <a:t>slow,</a:t>
            </a:r>
            <a:r>
              <a:rPr lang="ko-KR" altLang="en-US" sz="2000" u="sng" dirty="0"/>
              <a:t> </a:t>
            </a:r>
            <a:r>
              <a:rPr lang="en-US" altLang="ko-KR" sz="2000" u="sng" dirty="0"/>
              <a:t>heterogeneous</a:t>
            </a:r>
            <a:r>
              <a:rPr lang="ko-KR" altLang="en-US" sz="2000" u="sng" dirty="0"/>
              <a:t> </a:t>
            </a:r>
            <a:r>
              <a:rPr lang="en-US" altLang="ko-KR" sz="2000" u="sng" dirty="0"/>
              <a:t>data networks</a:t>
            </a:r>
            <a:endParaRPr lang="en-US" dirty="0"/>
          </a:p>
          <a:p>
            <a:pPr lvl="1" algn="ctr" latinLnBrk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18945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2196C-EFB1-E02D-536A-7E5A5668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C0CE6498-DC74-E368-73CD-A48074FA4247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8FF174DF-6E7F-E32C-667B-E36F62FBE494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Background 2 – Why Heterogeneous Training is Hard?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CECA114A-BBDA-6EB1-65EE-33A1E989F3DA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396DA2-FB36-D1AE-B496-D725BF3B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83ADD6BD-AD4D-6E9A-D466-096BA415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60" y="1205706"/>
            <a:ext cx="11485228" cy="435133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Challenges of Training Foundation Models(FMs) over Heterogeneous Networks</a:t>
            </a:r>
          </a:p>
          <a:p>
            <a:pPr lvl="1" latinLnBrk="0">
              <a:lnSpc>
                <a:spcPct val="100000"/>
              </a:lnSpc>
            </a:pPr>
            <a:r>
              <a:rPr lang="en-US" altLang="ko-KR" sz="2000" dirty="0"/>
              <a:t>Prior decentralized learning efforts focus</a:t>
            </a:r>
            <a:r>
              <a:rPr lang="ko-KR" altLang="en-US" sz="2000" dirty="0"/>
              <a:t> </a:t>
            </a:r>
            <a:r>
              <a:rPr lang="en-US" altLang="ko-KR" sz="2000" dirty="0"/>
              <a:t>on data parallelism</a:t>
            </a:r>
            <a:r>
              <a:rPr lang="ko-KR" altLang="en-US" sz="2000" dirty="0"/>
              <a:t> </a:t>
            </a:r>
            <a:r>
              <a:rPr lang="en-US" altLang="ko-KR" sz="2000" dirty="0"/>
              <a:t>or alternative architectures</a:t>
            </a:r>
          </a:p>
          <a:p>
            <a:pPr lvl="1" latinLnBrk="0">
              <a:lnSpc>
                <a:spcPct val="100000"/>
              </a:lnSpc>
            </a:pPr>
            <a:r>
              <a:rPr lang="en-US" altLang="ko-KR" sz="2000" dirty="0"/>
              <a:t>Key considerations</a:t>
            </a:r>
          </a:p>
          <a:p>
            <a:pPr lvl="2" latinLnBrk="0">
              <a:lnSpc>
                <a:spcPct val="100000"/>
              </a:lnSpc>
            </a:pPr>
            <a:r>
              <a:rPr lang="en-US" altLang="ko-KR" u="sng" dirty="0"/>
              <a:t>Foundation Models</a:t>
            </a:r>
          </a:p>
          <a:p>
            <a:pPr lvl="3" latinLnBrk="0">
              <a:lnSpc>
                <a:spcPct val="100000"/>
              </a:lnSpc>
            </a:pPr>
            <a:r>
              <a:rPr lang="en-US" altLang="ko-KR" sz="2000" dirty="0"/>
              <a:t>Models exceeding single-device capacity require parallelism beyond DP</a:t>
            </a:r>
          </a:p>
          <a:p>
            <a:pPr lvl="2" latinLnBrk="0">
              <a:lnSpc>
                <a:spcPct val="100000"/>
              </a:lnSpc>
            </a:pPr>
            <a:r>
              <a:rPr lang="en-US" altLang="ko-KR" u="sng" dirty="0"/>
              <a:t>Heterogeneous Networks</a:t>
            </a:r>
          </a:p>
          <a:p>
            <a:pPr lvl="3" latinLnBrk="0">
              <a:lnSpc>
                <a:spcPct val="100000"/>
              </a:lnSpc>
            </a:pPr>
            <a:r>
              <a:rPr lang="en-US" altLang="ko-KR" sz="2000" dirty="0"/>
              <a:t>Limited bandwidth and significant latency </a:t>
            </a:r>
          </a:p>
          <a:p>
            <a:pPr lvl="3" latinLnBrk="0">
              <a:lnSpc>
                <a:spcPct val="100000"/>
              </a:lnSpc>
            </a:pPr>
            <a:r>
              <a:rPr lang="en-US" altLang="ko-KR" sz="2000" dirty="0"/>
              <a:t>Communication costs vary significantly depending on </a:t>
            </a:r>
            <a:r>
              <a:rPr lang="en-US" altLang="ko-KR" sz="2000" dirty="0" err="1"/>
              <a:t>tasklet</a:t>
            </a:r>
            <a:r>
              <a:rPr lang="en-US" altLang="ko-KR" sz="2000" dirty="0"/>
              <a:t> placement</a:t>
            </a:r>
          </a:p>
          <a:p>
            <a:pPr marL="914400" lvl="2" indent="0" latinLnBrk="0">
              <a:lnSpc>
                <a:spcPct val="100000"/>
              </a:lnSpc>
              <a:buNone/>
            </a:pPr>
            <a:endParaRPr lang="en-US" altLang="ko-KR" sz="1600" dirty="0"/>
          </a:p>
          <a:p>
            <a:pPr lvl="2" latinLnBrk="0">
              <a:lnSpc>
                <a:spcPct val="100000"/>
              </a:lnSpc>
            </a:pPr>
            <a:endParaRPr lang="en-US" altLang="ko-KR" sz="1600" dirty="0"/>
          </a:p>
          <a:p>
            <a:pPr lvl="2" latinLnBrk="0">
              <a:lnSpc>
                <a:spcPct val="100000"/>
              </a:lnSpc>
            </a:pPr>
            <a:endParaRPr lang="en-US" altLang="ko-KR" sz="1600" dirty="0"/>
          </a:p>
          <a:p>
            <a:pPr lvl="1" latinLnBrk="0">
              <a:lnSpc>
                <a:spcPct val="100000"/>
              </a:lnSpc>
            </a:pPr>
            <a:endParaRPr lang="en-US" altLang="ko-KR" sz="2000" dirty="0"/>
          </a:p>
          <a:p>
            <a:pPr marL="914400" lvl="2" indent="0" latinLnBrk="0">
              <a:buNone/>
            </a:pPr>
            <a:endParaRPr lang="en-US" altLang="ko-KR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73A95-1042-B305-3581-397365BE3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218039"/>
            <a:ext cx="7388941" cy="25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82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A052-7637-BE0C-4F13-B21ECC22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CCCF5D38-CF71-C7DD-CC3B-EE42CDC8424E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0F4DAED0-5011-CC66-E33D-71E41972A4ED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Problem Formulation – </a:t>
            </a:r>
            <a:r>
              <a:rPr lang="en-US" altLang="ko-KR" sz="3200" b="1" dirty="0" err="1"/>
              <a:t>Tasklet</a:t>
            </a:r>
            <a:r>
              <a:rPr lang="en-US" altLang="ko-KR" sz="3200" b="1" dirty="0"/>
              <a:t> Allocation </a:t>
            </a:r>
            <a:endParaRPr lang="ko-KR" altLang="en-US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97DC841A-B20B-547A-1CEC-EA9AC8AFD09D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4C57E3-C35D-8153-F623-7ABFBD5C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4">
                <a:extLst>
                  <a:ext uri="{FF2B5EF4-FFF2-40B4-BE49-F238E27FC236}">
                    <a16:creationId xmlns:a16="http://schemas.microsoft.com/office/drawing/2014/main" id="{A614A21D-1C7A-612A-50FC-269E066562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860" y="1205706"/>
                <a:ext cx="11485228" cy="4351338"/>
              </a:xfrm>
            </p:spPr>
            <p:txBody>
              <a:bodyPr>
                <a:normAutofit/>
              </a:bodyPr>
              <a:lstStyle/>
              <a:p>
                <a:pPr latinLnBrk="0">
                  <a:lnSpc>
                    <a:spcPct val="120000"/>
                  </a:lnSpc>
                  <a:buFont typeface="Wingdings" pitchFamily="2" charset="2"/>
                  <a:buChar char="v"/>
                </a:pPr>
                <a:r>
                  <a:rPr lang="ko-KR" altLang="en-US" sz="2200" b="1" dirty="0"/>
                  <a:t> </a:t>
                </a:r>
                <a:r>
                  <a:rPr lang="en-US" altLang="ko-KR" sz="2200" b="1" dirty="0"/>
                  <a:t>Definition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/>
                  <a:t>Stage: A group of consecutive model layers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/>
                  <a:t>Micro-batch: A small subset of a training batch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 err="1"/>
                  <a:t>Tasklets</a:t>
                </a:r>
                <a:endParaRPr lang="en-US" altLang="ko-KR" sz="2000" dirty="0"/>
              </a:p>
              <a:p>
                <a:pPr lvl="2" latinLnBrk="0">
                  <a:lnSpc>
                    <a:spcPct val="100000"/>
                  </a:lnSpc>
                </a:pPr>
                <a:r>
                  <a:rPr lang="en-US" altLang="ko-KR" dirty="0"/>
                  <a:t>Collection of computational tasks in FM training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 err="1"/>
                  <a:t>Tasklet</a:t>
                </a:r>
                <a:endParaRPr lang="en-US" altLang="ko-KR" sz="2000" dirty="0"/>
              </a:p>
              <a:p>
                <a:pPr lvl="2" latinLnBrk="0">
                  <a:lnSpc>
                    <a:spcPct val="100000"/>
                  </a:lnSpc>
                </a:pPr>
                <a:r>
                  <a:rPr lang="en-US" altLang="ko-KR" dirty="0"/>
                  <a:t>Forward and backward computation </a:t>
                </a:r>
              </a:p>
              <a:p>
                <a:pPr lvl="2" latinLnBrk="0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Stage j with a micro-batch </a:t>
                </a:r>
                <a:r>
                  <a:rPr lang="en-US" altLang="ko-KR" dirty="0" err="1"/>
                  <a:t>i</a:t>
                </a:r>
                <a:endParaRPr lang="en-US" altLang="ko-KR" dirty="0"/>
              </a:p>
              <a:p>
                <a:pPr lvl="2" latinLnBrk="0"/>
                <a:endParaRPr lang="en-US" altLang="ko-KR" sz="1600" dirty="0"/>
              </a:p>
            </p:txBody>
          </p:sp>
        </mc:Choice>
        <mc:Fallback xmlns="">
          <p:sp>
            <p:nvSpPr>
              <p:cNvPr id="3" name="내용 개체 틀 4">
                <a:extLst>
                  <a:ext uri="{FF2B5EF4-FFF2-40B4-BE49-F238E27FC236}">
                    <a16:creationId xmlns:a16="http://schemas.microsoft.com/office/drawing/2014/main" id="{A614A21D-1C7A-612A-50FC-269E06656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860" y="1205706"/>
                <a:ext cx="11485228" cy="4351338"/>
              </a:xfrm>
              <a:blipFill>
                <a:blip r:embed="rId3"/>
                <a:stretch>
                  <a:fillRect l="-552" t="-58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ECCB1D8-9BED-B960-40D7-BEA9C07F3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378" y="1658485"/>
            <a:ext cx="4331033" cy="383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9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4DF5-9C3B-136B-8D1C-E37817A0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D492D533-98BC-058F-D37D-16ADFCB709F9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8B5A01D8-D986-A6C3-B0D9-3A68DB909CC2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Problem Formulation – </a:t>
            </a:r>
            <a:r>
              <a:rPr lang="en-US" altLang="ko-KR" sz="3200" b="1" dirty="0" err="1"/>
              <a:t>Tasklet</a:t>
            </a:r>
            <a:r>
              <a:rPr lang="en-US" altLang="ko-KR" sz="3200" b="1" dirty="0"/>
              <a:t> Allocation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(Cont’d) </a:t>
            </a:r>
            <a:endParaRPr lang="ko-KR" altLang="en-US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9190C00A-9CD8-F27B-6F5B-F7D326BEFB67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1CDE3F-1BB3-D7B3-A592-0B4C8F05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4">
                <a:extLst>
                  <a:ext uri="{FF2B5EF4-FFF2-40B4-BE49-F238E27FC236}">
                    <a16:creationId xmlns:a16="http://schemas.microsoft.com/office/drawing/2014/main" id="{1238B92D-4704-EEB3-D0F9-1BAF66F438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860" y="1205706"/>
                <a:ext cx="7275308" cy="4351338"/>
              </a:xfrm>
            </p:spPr>
            <p:txBody>
              <a:bodyPr>
                <a:normAutofit/>
              </a:bodyPr>
              <a:lstStyle/>
              <a:p>
                <a:pPr latinLnBrk="0">
                  <a:lnSpc>
                    <a:spcPct val="120000"/>
                  </a:lnSpc>
                  <a:buFont typeface="Wingdings" pitchFamily="2" charset="2"/>
                  <a:buChar char="v"/>
                </a:pPr>
                <a:r>
                  <a:rPr lang="ko-KR" altLang="en-US" sz="2200" b="1" dirty="0"/>
                  <a:t> </a:t>
                </a:r>
                <a:r>
                  <a:rPr lang="en-US" altLang="ko-KR" sz="2200" b="1" dirty="0"/>
                  <a:t>Parallelism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/>
                  <a:t>Data Parallelism + Pipeline Parallelism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/>
                  <a:t>Data Parallelism(DP)</a:t>
                </a:r>
              </a:p>
              <a:p>
                <a:pPr lvl="2" latinLnBrk="0">
                  <a:lnSpc>
                    <a:spcPct val="100000"/>
                  </a:lnSpc>
                </a:pPr>
                <a:r>
                  <a:rPr lang="en-US" altLang="ko-KR" dirty="0"/>
                  <a:t>Devices process different micro-batches independently and synchronize gradients</a:t>
                </a:r>
              </a:p>
              <a:p>
                <a:pPr lvl="1" latinLnBrk="0">
                  <a:lnSpc>
                    <a:spcPct val="100000"/>
                  </a:lnSpc>
                </a:pPr>
                <a:r>
                  <a:rPr lang="en-US" altLang="ko-KR" sz="2000" dirty="0"/>
                  <a:t>Pipeline Parallelism(PP)</a:t>
                </a:r>
              </a:p>
              <a:p>
                <a:pPr lvl="2" latinLnBrk="0">
                  <a:lnSpc>
                    <a:spcPct val="100000"/>
                  </a:lnSpc>
                </a:pPr>
                <a:r>
                  <a:rPr lang="en-US" altLang="ko-KR" dirty="0"/>
                  <a:t>Devices process different stages concurrently across micro-batches</a:t>
                </a:r>
              </a:p>
              <a:p>
                <a:pPr lvl="1" latinLnBrk="0"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0" dirty="0">
                            <a:latin typeface="Cambria Math" panose="02040503050406030204" pitchFamily="18" charset="0"/>
                          </a:rPr>
                          <m:t>DP</m:t>
                        </m:r>
                      </m:sub>
                    </m:sSub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0" dirty="0">
                            <a:latin typeface="Cambria Math" panose="02040503050406030204" pitchFamily="18" charset="0"/>
                          </a:rPr>
                          <m:t>PP</m:t>
                        </m:r>
                      </m:sub>
                    </m:sSub>
                  </m:oMath>
                </a14:m>
                <a:r>
                  <a:rPr lang="en-US" altLang="ko-KR" sz="2000" dirty="0"/>
                  <a:t>=N (i.e., number of devices)</a:t>
                </a:r>
              </a:p>
            </p:txBody>
          </p:sp>
        </mc:Choice>
        <mc:Fallback xmlns="">
          <p:sp>
            <p:nvSpPr>
              <p:cNvPr id="3" name="내용 개체 틀 4">
                <a:extLst>
                  <a:ext uri="{FF2B5EF4-FFF2-40B4-BE49-F238E27FC236}">
                    <a16:creationId xmlns:a16="http://schemas.microsoft.com/office/drawing/2014/main" id="{1238B92D-4704-EEB3-D0F9-1BAF66F438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860" y="1205706"/>
                <a:ext cx="7275308" cy="4351338"/>
              </a:xfrm>
              <a:blipFill>
                <a:blip r:embed="rId3"/>
                <a:stretch>
                  <a:fillRect l="-871" t="-58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928BAAC-5CD8-B921-E3B0-FA0F80654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378" y="1658485"/>
            <a:ext cx="4331033" cy="383807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7F6CFF-2827-43FA-A5C8-AB21C3F8AB0C}"/>
              </a:ext>
            </a:extLst>
          </p:cNvPr>
          <p:cNvSpPr txBox="1">
            <a:spLocks/>
          </p:cNvSpPr>
          <p:nvPr/>
        </p:nvSpPr>
        <p:spPr>
          <a:xfrm>
            <a:off x="1061885" y="4912276"/>
            <a:ext cx="4277032" cy="1015476"/>
          </a:xfrm>
          <a:prstGeom prst="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20000"/>
              </a:lnSpc>
              <a:buNone/>
            </a:pPr>
            <a:r>
              <a:rPr lang="en-US" altLang="ko-KR" sz="6200" b="1" dirty="0"/>
              <a:t>Goal</a:t>
            </a:r>
          </a:p>
          <a:p>
            <a:pPr marL="0" indent="0" algn="ctr" latinLnBrk="0">
              <a:lnSpc>
                <a:spcPct val="120000"/>
              </a:lnSpc>
              <a:buNone/>
            </a:pPr>
            <a:r>
              <a:rPr lang="en-US" altLang="ko-KR" sz="6200" dirty="0"/>
              <a:t>Maximize training throughput in decentralized training</a:t>
            </a:r>
            <a:endParaRPr lang="en-US" sz="6200" dirty="0"/>
          </a:p>
          <a:p>
            <a:pPr lvl="1" algn="ctr" latinLnBrk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987286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FA51-4305-3BF2-3F73-26B44EF90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D8E9EA15-D0CA-FD66-5081-2B33F177FC10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BC2CAC1A-C4AB-29C8-0401-3529C721FAAD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Contributions &amp; Design Overview </a:t>
            </a:r>
            <a:endParaRPr lang="ko-KR" altLang="en-US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93E82516-8298-F1B4-97F3-3A4F332C9099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BE1918-22FF-1389-FC0A-095868E6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60B6C278-4847-2A1A-32FD-8609E9267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60" y="1205706"/>
            <a:ext cx="11485228" cy="435133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Main Contribution </a:t>
            </a:r>
          </a:p>
          <a:p>
            <a:pPr marL="457200" lvl="1" indent="0" latinLnBrk="0">
              <a:lnSpc>
                <a:spcPct val="100000"/>
              </a:lnSpc>
              <a:buNone/>
            </a:pPr>
            <a:r>
              <a:rPr lang="en-US" altLang="ko-KR" sz="2000" dirty="0"/>
              <a:t>1) Bi-level cost modeling</a:t>
            </a:r>
          </a:p>
          <a:p>
            <a:pPr lvl="2" latinLnBrk="0">
              <a:lnSpc>
                <a:spcPct val="100000"/>
              </a:lnSpc>
            </a:pPr>
            <a:r>
              <a:rPr lang="en-US" altLang="ko-KR" dirty="0"/>
              <a:t>Level 1: Balanced graph partitioning (b)</a:t>
            </a:r>
          </a:p>
          <a:p>
            <a:pPr lvl="2" latinLnBrk="0">
              <a:lnSpc>
                <a:spcPct val="100000"/>
              </a:lnSpc>
            </a:pPr>
            <a:r>
              <a:rPr lang="en-US" altLang="ko-KR" dirty="0"/>
              <a:t>Level 2: Matching (c)(d) + Open-loop TSP (e)</a:t>
            </a:r>
          </a:p>
          <a:p>
            <a:pPr marL="457200" lvl="1" indent="0" latinLnBrk="0">
              <a:lnSpc>
                <a:spcPct val="100000"/>
              </a:lnSpc>
              <a:buNone/>
            </a:pPr>
            <a:r>
              <a:rPr lang="en-US" altLang="ko-KR" sz="2000" dirty="0"/>
              <a:t>2) Hybrid Genetic Algorithm(HGA) + Local search strategy </a:t>
            </a:r>
          </a:p>
          <a:p>
            <a:pPr marL="457200" lvl="1" indent="0" latinLnBrk="0">
              <a:lnSpc>
                <a:spcPct val="100000"/>
              </a:lnSpc>
              <a:buNone/>
            </a:pPr>
            <a:r>
              <a:rPr lang="en-US" altLang="ko-KR" sz="2000" dirty="0"/>
              <a:t>3) System Optimization</a:t>
            </a:r>
          </a:p>
          <a:p>
            <a:pPr lvl="2" latinLnBrk="0">
              <a:lnSpc>
                <a:spcPct val="100000"/>
              </a:lnSpc>
            </a:pPr>
            <a:r>
              <a:rPr lang="en-US" altLang="ko-KR" dirty="0"/>
              <a:t>Communication/computation overlap</a:t>
            </a:r>
          </a:p>
          <a:p>
            <a:pPr lvl="2" latinLnBrk="0">
              <a:lnSpc>
                <a:spcPct val="100000"/>
              </a:lnSpc>
            </a:pPr>
            <a:endParaRPr lang="en-US" altLang="ko-KR" sz="1600" dirty="0"/>
          </a:p>
          <a:p>
            <a:pPr marL="914400" lvl="2" indent="0" latinLnBrk="0">
              <a:buNone/>
            </a:pPr>
            <a:endParaRPr lang="en-US" altLang="ko-KR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E325E-69C4-C3EF-3F26-E0A293EAB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987" y="3877981"/>
            <a:ext cx="7396974" cy="2149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DDCFD-C7EB-5CCF-4A79-5762AA15B00A}"/>
              </a:ext>
            </a:extLst>
          </p:cNvPr>
          <p:cNvSpPr txBox="1"/>
          <p:nvPr/>
        </p:nvSpPr>
        <p:spPr>
          <a:xfrm>
            <a:off x="745958" y="1649634"/>
            <a:ext cx="7134725" cy="1538733"/>
          </a:xfrm>
          <a:prstGeom prst="rect">
            <a:avLst/>
          </a:prstGeom>
          <a:noFill/>
          <a:ln w="412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KR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93B81B-2AF6-1507-1B98-ED88E0A22FE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880683" y="2419001"/>
            <a:ext cx="637675" cy="0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7662B6-0DE3-C93E-12BB-EF64AD7FF6B6}"/>
              </a:ext>
            </a:extLst>
          </p:cNvPr>
          <p:cNvSpPr txBox="1"/>
          <p:nvPr/>
        </p:nvSpPr>
        <p:spPr>
          <a:xfrm>
            <a:off x="8518358" y="2234334"/>
            <a:ext cx="1491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Scheduling Algorithm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84210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3E2D-42D8-4943-5FD8-A336994D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39070520-BEB6-6BDE-F56F-906436882E6D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A5DCFB6D-3920-BA35-F28F-4D103B5D9337}"/>
              </a:ext>
            </a:extLst>
          </p:cNvPr>
          <p:cNvSpPr txBox="1">
            <a:spLocks/>
          </p:cNvSpPr>
          <p:nvPr/>
        </p:nvSpPr>
        <p:spPr>
          <a:xfrm>
            <a:off x="334860" y="54254"/>
            <a:ext cx="112094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Cost Modeling Overview</a:t>
            </a:r>
            <a:endParaRPr lang="ko-KR" altLang="en-US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F0028D2B-95D5-1731-7E0C-AF4023029205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4D61B2-735A-4755-1AE9-29B61810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30D17C44-734B-707D-4FE3-530BE8868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60" y="1205706"/>
            <a:ext cx="11485228" cy="435133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Bi-level Optimization 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/>
              <a:t>Level 1 : Data Parallel-Cost</a:t>
            </a:r>
          </a:p>
          <a:p>
            <a:pPr lvl="2" latinLnBrk="0">
              <a:lnSpc>
                <a:spcPct val="120000"/>
              </a:lnSpc>
            </a:pPr>
            <a:r>
              <a:rPr lang="en-US" altLang="ko-KR" dirty="0"/>
              <a:t>Devices within each group handle the same stage and synchronize gradients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/>
              <a:t>Level 2 : Pipeline Parallel-Cost</a:t>
            </a:r>
          </a:p>
          <a:p>
            <a:pPr lvl="2" latinLnBrk="0">
              <a:lnSpc>
                <a:spcPct val="120000"/>
              </a:lnSpc>
            </a:pPr>
            <a:r>
              <a:rPr lang="en-US" altLang="ko-KR" dirty="0"/>
              <a:t>Given the DP groups, determine device matching and stage ordering for PP</a:t>
            </a:r>
            <a:endParaRPr lang="en-US" altLang="ko-KR" sz="1800" b="1" dirty="0"/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/>
              <a:t> Objective</a:t>
            </a:r>
          </a:p>
          <a:p>
            <a:pPr lvl="1" latinLnBrk="0">
              <a:lnSpc>
                <a:spcPct val="100000"/>
              </a:lnSpc>
            </a:pPr>
            <a:r>
              <a:rPr lang="en-US" altLang="ko-KR" sz="2000" dirty="0"/>
              <a:t>Minimize total DP and PP communication costs </a:t>
            </a:r>
            <a:endParaRPr lang="en-US" altLang="ko-KR" sz="1600" dirty="0"/>
          </a:p>
          <a:p>
            <a:pPr lvl="2" latinLnBrk="0"/>
            <a:endParaRPr lang="en-US" altLang="ko-KR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A543D-CDEA-EC96-FAA0-540F2DF81C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39"/>
          <a:stretch>
            <a:fillRect/>
          </a:stretch>
        </p:blipFill>
        <p:spPr>
          <a:xfrm>
            <a:off x="1669922" y="4348377"/>
            <a:ext cx="8875175" cy="1579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4687B6-6A53-019B-4F35-0F6778004FC9}"/>
              </a:ext>
            </a:extLst>
          </p:cNvPr>
          <p:cNvSpPr txBox="1"/>
          <p:nvPr/>
        </p:nvSpPr>
        <p:spPr>
          <a:xfrm>
            <a:off x="10400124" y="5372378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(Eq 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0164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5431F-7F3F-19EC-81BD-C4459197F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461E3F45-EBE9-5C3D-19E2-981B5A1FA3EC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6A591138-7C9C-545D-4F5D-5D33BB86F2AC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Cost Model 1 – Data Parallel Communication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348852F4-5D4B-16A1-40F6-99ED0DA9DE8A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C20F13-2AEA-ED32-2E06-1E6F6F99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754F992B-075B-C7C9-93D0-32AD15243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60" y="1205705"/>
            <a:ext cx="9894990" cy="443785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Modeling Data Parallel Communication Cost </a:t>
            </a:r>
          </a:p>
          <a:p>
            <a:pPr lvl="1" latinLnBrk="0"/>
            <a:r>
              <a:rPr lang="en-US" altLang="ko-KR" sz="2000" dirty="0"/>
              <a:t>Devices exchange gradient shards, aggregate them, and redistribute the results</a:t>
            </a:r>
          </a:p>
          <a:p>
            <a:pPr lvl="1" latinLnBrk="0"/>
            <a:r>
              <a:rPr lang="en-US" altLang="ko-KR" sz="2000" dirty="0"/>
              <a:t>Group cost</a:t>
            </a:r>
          </a:p>
          <a:p>
            <a:pPr lvl="2" latinLnBrk="0"/>
            <a:r>
              <a:rPr lang="en-US" altLang="ko-KR" dirty="0"/>
              <a:t>Determined by the device with the highest total communication cost </a:t>
            </a:r>
          </a:p>
          <a:p>
            <a:pPr lvl="2" latinLnBrk="0"/>
            <a:endParaRPr lang="en-US" altLang="ko-KR" dirty="0"/>
          </a:p>
          <a:p>
            <a:pPr lvl="2" latinLnBrk="0"/>
            <a:endParaRPr lang="en-US" altLang="ko-KR" dirty="0"/>
          </a:p>
          <a:p>
            <a:pPr lvl="1" latinLnBrk="0"/>
            <a:endParaRPr lang="en-US" altLang="ko-KR" sz="2000" dirty="0"/>
          </a:p>
          <a:p>
            <a:pPr lvl="1" latinLnBrk="0"/>
            <a:r>
              <a:rPr lang="en-US" altLang="ko-KR" sz="2000" dirty="0"/>
              <a:t>Overall DP cost</a:t>
            </a:r>
          </a:p>
          <a:p>
            <a:pPr lvl="2" latinLnBrk="0"/>
            <a:r>
              <a:rPr lang="en-US" altLang="ko-KR" dirty="0"/>
              <a:t>Determined by the slowest DP group, as groups communicate in parallel</a:t>
            </a:r>
          </a:p>
          <a:p>
            <a:pPr lvl="1" latinLnBrk="0"/>
            <a:endParaRPr lang="en-US" altLang="ko-KR" sz="600" dirty="0"/>
          </a:p>
          <a:p>
            <a:pPr lvl="2" latinLnBrk="0"/>
            <a:endParaRPr lang="en-US" sz="1600" dirty="0"/>
          </a:p>
          <a:p>
            <a:pPr lvl="2" latinLnBrk="0"/>
            <a:endParaRPr lang="en-KR" sz="1600" dirty="0"/>
          </a:p>
          <a:p>
            <a:pPr lvl="1" latinLnBrk="0"/>
            <a:endParaRPr lang="en-K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B1DB8-8F70-18B4-B829-030ADD287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0" y="3067276"/>
            <a:ext cx="5083171" cy="898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8C6EC7-3484-601D-EACC-AEFC3F175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0" y="4926314"/>
            <a:ext cx="5740400" cy="79758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EFA15F3-F48E-5469-6751-BF2DE87FA580}"/>
              </a:ext>
            </a:extLst>
          </p:cNvPr>
          <p:cNvGrpSpPr/>
          <p:nvPr/>
        </p:nvGrpSpPr>
        <p:grpSpPr>
          <a:xfrm>
            <a:off x="9705973" y="1333416"/>
            <a:ext cx="2486025" cy="2266283"/>
            <a:chOff x="3067047" y="3701143"/>
            <a:chExt cx="2552339" cy="229595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663296-4F22-2B15-2E3C-81D240FF1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67047" y="3723802"/>
              <a:ext cx="2374900" cy="22733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FAD6E2-F2DF-A4BB-BE97-3992403914B0}"/>
                </a:ext>
              </a:extLst>
            </p:cNvPr>
            <p:cNvSpPr/>
            <p:nvPr/>
          </p:nvSpPr>
          <p:spPr>
            <a:xfrm>
              <a:off x="4711337" y="3701143"/>
              <a:ext cx="748937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523160-C101-0D07-F8EB-2CCCF1D0FC5C}"/>
                </a:ext>
              </a:extLst>
            </p:cNvPr>
            <p:cNvSpPr/>
            <p:nvPr/>
          </p:nvSpPr>
          <p:spPr>
            <a:xfrm>
              <a:off x="4870449" y="4444892"/>
              <a:ext cx="748937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3F32F87-E849-B0CE-A6B9-018CFB017DE6}"/>
              </a:ext>
            </a:extLst>
          </p:cNvPr>
          <p:cNvSpPr txBox="1"/>
          <p:nvPr/>
        </p:nvSpPr>
        <p:spPr>
          <a:xfrm>
            <a:off x="6934078" y="3294364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(Eq 2)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B4C7E-81BB-8361-ABD3-FA23356890E2}"/>
              </a:ext>
            </a:extLst>
          </p:cNvPr>
          <p:cNvSpPr txBox="1"/>
          <p:nvPr/>
        </p:nvSpPr>
        <p:spPr>
          <a:xfrm>
            <a:off x="6934078" y="5140440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(Eq 3)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989453-3876-8793-918E-FDD2F5F459D0}"/>
                  </a:ext>
                </a:extLst>
              </p:cNvPr>
              <p:cNvSpPr txBox="1"/>
              <p:nvPr/>
            </p:nvSpPr>
            <p:spPr>
              <a:xfrm>
                <a:off x="7726283" y="5081701"/>
                <a:ext cx="4362188" cy="923330"/>
              </a:xfrm>
              <a:prstGeom prst="rect">
                <a:avLst/>
              </a:prstGeom>
              <a:noFill/>
              <a:ln w="60325"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KR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latency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/>
                  <a:t>: bandwidth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DP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Parameter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stage</m:t>
                      </m:r>
                    </m:oMath>
                  </m:oMathPara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0" dirty="0" smtClean="0">
                            <a:latin typeface="Cambria Math" panose="02040503050406030204" pitchFamily="18" charset="0"/>
                          </a:rPr>
                          <m:t>PP</m:t>
                        </m:r>
                      </m:sub>
                    </m:sSub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Activation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data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size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per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micro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batch</m:t>
                    </m:r>
                  </m:oMath>
                </a14:m>
                <a:r>
                  <a:rPr lang="en-US" altLang="ko-KR" dirty="0"/>
                  <a:t> </a:t>
                </a:r>
                <a:endParaRPr lang="en-K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A989453-3876-8793-918E-FDD2F5F45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283" y="5081701"/>
                <a:ext cx="4362188" cy="923330"/>
              </a:xfrm>
              <a:prstGeom prst="rect">
                <a:avLst/>
              </a:prstGeom>
              <a:blipFill>
                <a:blip r:embed="rId6"/>
                <a:stretch>
                  <a:fillRect b="-3797"/>
                </a:stretch>
              </a:blipFill>
              <a:ln w="60325">
                <a:solidFill>
                  <a:schemeClr val="bg2">
                    <a:lumMod val="90000"/>
                  </a:schemeClr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9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87CB-0622-78A6-5655-91830A7E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F5D5A74-B79B-C403-4345-093C7A1672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4860" y="1205706"/>
            <a:ext cx="8780565" cy="435133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/>
              <a:t> </a:t>
            </a:r>
            <a:r>
              <a:rPr lang="en-US" altLang="ko-KR" sz="2200" b="1" dirty="0"/>
              <a:t>Modeling Pipeline Parallel communication cost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/>
              <a:t>Connect GPUs one-to-one between two DP groups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/>
              <a:t>Find a perfect matching that minimizes the maximum link communication cost, rather than the sum</a:t>
            </a:r>
          </a:p>
          <a:p>
            <a:pPr lvl="1" latinLnBrk="0">
              <a:lnSpc>
                <a:spcPct val="120000"/>
              </a:lnSpc>
            </a:pPr>
            <a:endParaRPr lang="en-US" altLang="ko-KR" sz="2000" dirty="0"/>
          </a:p>
          <a:p>
            <a:pPr marL="457200" lvl="1" indent="0" latinLnBrk="0">
              <a:lnSpc>
                <a:spcPct val="120000"/>
              </a:lnSpc>
              <a:buNone/>
            </a:pPr>
            <a:endParaRPr lang="en-US" altLang="ko-KR" sz="2000" dirty="0"/>
          </a:p>
          <a:p>
            <a:pPr lvl="1" latinLnBrk="0">
              <a:lnSpc>
                <a:spcPct val="120000"/>
              </a:lnSpc>
            </a:pPr>
            <a:endParaRPr lang="en-US" altLang="ko-KR" sz="2000" dirty="0"/>
          </a:p>
          <a:p>
            <a:pPr lvl="1" latinLnBrk="0">
              <a:lnSpc>
                <a:spcPct val="120000"/>
              </a:lnSpc>
            </a:pPr>
            <a:r>
              <a:rPr lang="en-US" altLang="ko-KR" sz="2000" dirty="0"/>
              <a:t>Solvable in polynomial time 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/>
              <a:t>Matching cost becomes an edge weight in the coarsened graph </a:t>
            </a:r>
          </a:p>
          <a:p>
            <a:pPr marL="1371600" lvl="3" indent="0" latinLnBrk="0">
              <a:buNone/>
            </a:pPr>
            <a:endParaRPr lang="en-KR" altLang="ko-KR" dirty="0"/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BF841A10-5C8F-7F09-EC02-30DCFF533D6A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2BF23223-6F22-2BB8-34E3-B1E78D70C117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Cost Model 2 – Bottleneck Matching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6AF255BF-8293-D9D2-1D85-2BAF79520BC4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169B28-CC23-B812-FF46-411AB4F1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3F1FC3-660E-9F8A-90FF-6395A66DFC9F}"/>
              </a:ext>
            </a:extLst>
          </p:cNvPr>
          <p:cNvGrpSpPr/>
          <p:nvPr/>
        </p:nvGrpSpPr>
        <p:grpSpPr>
          <a:xfrm>
            <a:off x="8198260" y="1128829"/>
            <a:ext cx="3567879" cy="3305696"/>
            <a:chOff x="5281836" y="3911795"/>
            <a:chExt cx="3231842" cy="20159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4AECF3-B1E8-C1FD-21AE-8D90E676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5574" y="3911795"/>
              <a:ext cx="3058104" cy="201595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379CE78-7EE3-E08F-9C47-76DD4BBD1178}"/>
                </a:ext>
              </a:extLst>
            </p:cNvPr>
            <p:cNvSpPr/>
            <p:nvPr/>
          </p:nvSpPr>
          <p:spPr>
            <a:xfrm>
              <a:off x="5281836" y="4553425"/>
              <a:ext cx="926459" cy="13195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36358E-FD73-2E8E-B3D1-3C06C8856BE7}"/>
              </a:ext>
            </a:extLst>
          </p:cNvPr>
          <p:cNvGrpSpPr/>
          <p:nvPr/>
        </p:nvGrpSpPr>
        <p:grpSpPr>
          <a:xfrm>
            <a:off x="1668742" y="2990393"/>
            <a:ext cx="3923918" cy="1005702"/>
            <a:chOff x="8074189" y="4989772"/>
            <a:chExt cx="3923918" cy="100570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754A90-2259-3E28-6BA5-DD82749D2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52208" y="4989772"/>
              <a:ext cx="3567880" cy="825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F1768E-3D77-5F1D-D21E-8FE8FBCBF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4189" y="5695366"/>
              <a:ext cx="3923918" cy="30010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5FAC7E4-C630-03A4-128F-AE3B0299D0CC}"/>
              </a:ext>
            </a:extLst>
          </p:cNvPr>
          <p:cNvSpPr txBox="1"/>
          <p:nvPr/>
        </p:nvSpPr>
        <p:spPr>
          <a:xfrm>
            <a:off x="5919038" y="3196709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(Eq 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0816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B604-428C-D4E0-57B8-206CA1D32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07924D-6008-2350-B4A3-14B8AA84F38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4861" y="1205706"/>
            <a:ext cx="8533826" cy="3510612"/>
          </a:xfrm>
        </p:spPr>
        <p:txBody>
          <a:bodyPr>
            <a:normAutofit fontScale="92500" lnSpcReduction="20000"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400" b="1" dirty="0"/>
              <a:t>  </a:t>
            </a:r>
            <a:r>
              <a:rPr lang="en-US" altLang="ko-KR" sz="2400" b="1" dirty="0"/>
              <a:t>Modeling Pipeline Parallel communication cost (Cont’d)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200" dirty="0"/>
              <a:t>Construct a coarsened communication graph</a:t>
            </a:r>
          </a:p>
          <a:p>
            <a:pPr lvl="2" latinLnBrk="0">
              <a:lnSpc>
                <a:spcPct val="120000"/>
              </a:lnSpc>
            </a:pPr>
            <a:r>
              <a:rPr lang="en-US" altLang="ko-KR" sz="2200" dirty="0"/>
              <a:t>Vertices: DP groups</a:t>
            </a:r>
          </a:p>
          <a:p>
            <a:pPr lvl="2" latinLnBrk="0">
              <a:lnSpc>
                <a:spcPct val="120000"/>
              </a:lnSpc>
            </a:pPr>
            <a:r>
              <a:rPr lang="en-US" altLang="ko-KR" sz="2200" dirty="0"/>
              <a:t>Edge weights: Bottleneck matching costs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200" dirty="0"/>
              <a:t>Find a minimum-cost route</a:t>
            </a:r>
            <a:r>
              <a:rPr lang="ko-KR" altLang="en-US" sz="2200" dirty="0"/>
              <a:t> </a:t>
            </a:r>
            <a:r>
              <a:rPr lang="en-US" altLang="ko-KR" sz="2200" dirty="0"/>
              <a:t>using</a:t>
            </a:r>
            <a:r>
              <a:rPr lang="ko-KR" altLang="en-US" sz="2200" dirty="0"/>
              <a:t> </a:t>
            </a:r>
            <a:r>
              <a:rPr lang="en-US" altLang="ko-KR" sz="2200" dirty="0"/>
              <a:t>an</a:t>
            </a:r>
            <a:r>
              <a:rPr lang="ko-KR" altLang="en-US" sz="2200" dirty="0"/>
              <a:t> </a:t>
            </a:r>
            <a:r>
              <a:rPr lang="en-US" altLang="ko-KR" sz="2200" dirty="0"/>
              <a:t>open-loop</a:t>
            </a:r>
            <a:r>
              <a:rPr lang="ko-KR" altLang="en-US" sz="2200" dirty="0"/>
              <a:t> </a:t>
            </a:r>
            <a:r>
              <a:rPr lang="en-US" altLang="ko-KR" sz="2200" dirty="0"/>
              <a:t>TSP</a:t>
            </a:r>
            <a:r>
              <a:rPr lang="ko-KR" altLang="en-US" sz="2200" dirty="0"/>
              <a:t> </a:t>
            </a:r>
            <a:r>
              <a:rPr lang="en-US" altLang="ko-KR" sz="2200" dirty="0"/>
              <a:t>formulation to minimize total PP communication cost</a:t>
            </a:r>
          </a:p>
          <a:p>
            <a:pPr lvl="1" latinLnBrk="0">
              <a:lnSpc>
                <a:spcPct val="120000"/>
              </a:lnSpc>
            </a:pPr>
            <a:endParaRPr lang="en-US" altLang="ko-KR" sz="2200" dirty="0"/>
          </a:p>
          <a:p>
            <a:pPr lvl="1" latinLnBrk="0">
              <a:lnSpc>
                <a:spcPct val="120000"/>
              </a:lnSpc>
            </a:pPr>
            <a:endParaRPr lang="en-US" altLang="ko-KR" sz="2200" dirty="0"/>
          </a:p>
          <a:p>
            <a:pPr lvl="1" latinLnBrk="0">
              <a:lnSpc>
                <a:spcPct val="120000"/>
              </a:lnSpc>
            </a:pPr>
            <a:r>
              <a:rPr lang="en-US" altLang="ko-KR" sz="2200" dirty="0"/>
              <a:t>The path determines the pipeline stage order</a:t>
            </a:r>
          </a:p>
          <a:p>
            <a:pPr lvl="1" latinLnBrk="0">
              <a:lnSpc>
                <a:spcPct val="120000"/>
              </a:lnSpc>
            </a:pPr>
            <a:endParaRPr lang="en-US" altLang="ko-KR" sz="2000" dirty="0"/>
          </a:p>
          <a:p>
            <a:pPr marL="457200" lvl="1" indent="0" latinLnBrk="0">
              <a:lnSpc>
                <a:spcPct val="120000"/>
              </a:lnSpc>
              <a:buNone/>
            </a:pPr>
            <a:endParaRPr lang="en-US" altLang="ko-KR" sz="2000" dirty="0"/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BA6CFEF9-A048-2536-CD51-729D30AB8CEF}"/>
              </a:ext>
            </a:extLst>
          </p:cNvPr>
          <p:cNvSpPr/>
          <p:nvPr/>
        </p:nvSpPr>
        <p:spPr>
          <a:xfrm flipV="1">
            <a:off x="-1" y="6175495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949C34D2-427A-4D4F-716A-819B8E8AC127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Cost Model 3 – Open-loop TSP</a:t>
            </a:r>
            <a:endParaRPr lang="ko-KR" altLang="en-US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F6EA9103-5657-A775-0B1D-17F401FA3429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E84D60-EE9D-3174-4E07-961E5472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A7D9E-7582-A44F-A5A5-51F26FA11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6" y="3458222"/>
            <a:ext cx="6726177" cy="75892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2567294-9736-2E51-3F7C-3B23AF2AD1BF}"/>
              </a:ext>
            </a:extLst>
          </p:cNvPr>
          <p:cNvGrpSpPr/>
          <p:nvPr/>
        </p:nvGrpSpPr>
        <p:grpSpPr>
          <a:xfrm>
            <a:off x="8767091" y="1102749"/>
            <a:ext cx="3133723" cy="2734936"/>
            <a:chOff x="8984974" y="1927302"/>
            <a:chExt cx="2835114" cy="25527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908D68-C508-DF75-63EE-50A597ADE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76888" y="1927302"/>
              <a:ext cx="2743200" cy="25527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581ADD-BD3F-54BA-7A41-5E1AA1537BC5}"/>
                </a:ext>
              </a:extLst>
            </p:cNvPr>
            <p:cNvSpPr/>
            <p:nvPr/>
          </p:nvSpPr>
          <p:spPr>
            <a:xfrm>
              <a:off x="8984974" y="1972927"/>
              <a:ext cx="874643" cy="11864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8D93583-F45C-7526-BDA1-43B48C4B8A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83"/>
          <a:stretch>
            <a:fillRect/>
          </a:stretch>
        </p:blipFill>
        <p:spPr>
          <a:xfrm>
            <a:off x="6600133" y="1649876"/>
            <a:ext cx="1415037" cy="5098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549846-7E12-204D-82C3-026CB7287F61}"/>
              </a:ext>
            </a:extLst>
          </p:cNvPr>
          <p:cNvSpPr txBox="1"/>
          <p:nvPr/>
        </p:nvSpPr>
        <p:spPr>
          <a:xfrm>
            <a:off x="7974886" y="3653019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(Eq 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2295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201304"/>
            <a:ext cx="11480800" cy="4924751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>
                <a:solidFill>
                  <a:srgbClr val="000000"/>
                </a:solidFill>
              </a:rPr>
              <a:t> Why a Genetic Algorithm?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Eq 1 → balanced graph partitioning with a complex objective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NP-hard → exhaustive search is impractical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Use a heuristic search: Hybrid Genetic Algorithm (HGA)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>
                <a:solidFill>
                  <a:srgbClr val="000000"/>
                </a:solidFill>
              </a:rPr>
              <a:t> HGA Procedure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Population: candidate balanced DP groupings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Crossover: combine two parent groupings → offspring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Local search: refine the offspring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Replacement</a:t>
            </a:r>
            <a:r>
              <a:rPr lang="en-US" altLang="ko-KR" sz="2000">
                <a:solidFill>
                  <a:srgbClr val="000000"/>
                </a:solidFill>
              </a:rPr>
              <a:t>: </a:t>
            </a:r>
            <a:r>
              <a:rPr lang="en-US" altLang="ko-KR" sz="2000"/>
              <a:t>replace the worst candidate if the offspring is better</a:t>
            </a:r>
            <a:endParaRPr lang="en-US" altLang="ko-KR" sz="2000" dirty="0">
              <a:solidFill>
                <a:srgbClr val="000000"/>
              </a:solidFill>
            </a:endParaRP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Search Algorithm – Hybrid Genetic Algorithm</a:t>
            </a: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0F3EA3FF-FDC6-366F-10E1-D115BCBCA093}"/>
              </a:ext>
            </a:extLst>
          </p:cNvPr>
          <p:cNvSpPr txBox="1">
            <a:spLocks/>
          </p:cNvSpPr>
          <p:nvPr/>
        </p:nvSpPr>
        <p:spPr>
          <a:xfrm>
            <a:off x="2496455" y="5443211"/>
            <a:ext cx="7199085" cy="416579"/>
          </a:xfrm>
          <a:prstGeom prst="rect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lnSpc>
                <a:spcPct val="120000"/>
              </a:lnSpc>
              <a:buNone/>
            </a:pPr>
            <a:r>
              <a:rPr lang="en-US" altLang="ko-KR" sz="1800">
                <a:solidFill>
                  <a:srgbClr val="000000"/>
                </a:solidFill>
              </a:rPr>
              <a:t>Hybrid = Global exploration (GA) + Local refinement (local search)</a:t>
            </a:r>
            <a:endParaRPr lang="en-KR" sz="1800" dirty="0"/>
          </a:p>
        </p:txBody>
      </p:sp>
    </p:spTree>
    <p:extLst>
      <p:ext uri="{BB962C8B-B14F-4D97-AF65-F5344CB8AC3E}">
        <p14:creationId xmlns:p14="http://schemas.microsoft.com/office/powerpoint/2010/main" val="1264382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206500"/>
            <a:ext cx="5842000" cy="4445000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>
                <a:solidFill>
                  <a:srgbClr val="000000"/>
                </a:solidFill>
              </a:rPr>
              <a:t> Crossover between Two Parents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/>
              <a:t>Select two candidate partitions as parents </a:t>
            </a:r>
            <a:endParaRPr lang="en-US" altLang="ko-KR" sz="200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2000"/>
              <a:t>Inherit grouping structures from both parents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2000"/>
              <a:t>Restore the balanced partition constraint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2000"/>
              <a:t>Resulting offspring → Local Search</a:t>
            </a:r>
            <a:endParaRPr lang="en-US" altLang="ko-KR" sz="2000">
              <a:solidFill>
                <a:srgbClr val="000000"/>
              </a:solidFill>
            </a:endParaRP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147614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/>
              <a:t>Search Algorithm – Hybrid Genetic Algorithm</a:t>
            </a:r>
            <a:r>
              <a:rPr lang="ko-KR" altLang="en-US" sz="3200" b="1"/>
              <a:t> </a:t>
            </a:r>
            <a:r>
              <a:rPr lang="en-US" altLang="ko-KR" sz="3200" b="1"/>
              <a:t>(Cont’d) </a:t>
            </a:r>
            <a:endParaRPr lang="en-US" altLang="ko-KR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0" name="Crossover 71"/>
          <p:cNvSpPr/>
          <p:nvPr/>
        </p:nvSpPr>
        <p:spPr>
          <a:xfrm>
            <a:off x="6413500" y="1244600"/>
            <a:ext cx="2540000" cy="66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Parent 1</a:t>
            </a:r>
          </a:p>
        </p:txBody>
      </p:sp>
      <p:sp>
        <p:nvSpPr>
          <p:cNvPr id="71" name="Crossover 72"/>
          <p:cNvSpPr/>
          <p:nvPr/>
        </p:nvSpPr>
        <p:spPr>
          <a:xfrm>
            <a:off x="9271000" y="1244600"/>
            <a:ext cx="2540000" cy="66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Parent 2</a:t>
            </a:r>
          </a:p>
        </p:txBody>
      </p:sp>
      <p:cxnSp>
        <p:nvCxnSpPr>
          <p:cNvPr id="72" name="Crossover Arrow 73"/>
          <p:cNvCxnSpPr/>
          <p:nvPr/>
        </p:nvCxnSpPr>
        <p:spPr>
          <a:xfrm>
            <a:off x="7683500" y="1905000"/>
            <a:ext cx="0" cy="3302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73" name="Crossover Arrow 74"/>
          <p:cNvCxnSpPr/>
          <p:nvPr/>
        </p:nvCxnSpPr>
        <p:spPr>
          <a:xfrm>
            <a:off x="10541000" y="1905000"/>
            <a:ext cx="0" cy="3302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74" name="Crossover 75"/>
          <p:cNvSpPr/>
          <p:nvPr/>
        </p:nvSpPr>
        <p:spPr>
          <a:xfrm>
            <a:off x="6413500" y="2260600"/>
            <a:ext cx="5397500" cy="66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1. Align corresponding groups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000000"/>
                </a:solidFill>
              </a:rPr>
              <a:t>match group labels between the parents</a:t>
            </a:r>
          </a:p>
        </p:txBody>
      </p:sp>
      <p:cxnSp>
        <p:nvCxnSpPr>
          <p:cNvPr id="75" name="Crossover Arrow 76"/>
          <p:cNvCxnSpPr/>
          <p:nvPr/>
        </p:nvCxnSpPr>
        <p:spPr>
          <a:xfrm>
            <a:off x="9112250" y="2921000"/>
            <a:ext cx="0" cy="254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76" name="Crossover 77"/>
          <p:cNvSpPr/>
          <p:nvPr/>
        </p:nvSpPr>
        <p:spPr>
          <a:xfrm>
            <a:off x="6413500" y="3175000"/>
            <a:ext cx="5397500" cy="66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2. Combine grouping information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000000"/>
                </a:solidFill>
              </a:rPr>
              <a:t>mix GPU assignments of the two parents</a:t>
            </a:r>
          </a:p>
        </p:txBody>
      </p:sp>
      <p:cxnSp>
        <p:nvCxnSpPr>
          <p:cNvPr id="77" name="Crossover Arrow 78"/>
          <p:cNvCxnSpPr/>
          <p:nvPr/>
        </p:nvCxnSpPr>
        <p:spPr>
          <a:xfrm>
            <a:off x="9112250" y="3835400"/>
            <a:ext cx="0" cy="254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78" name="Crossover 79"/>
          <p:cNvSpPr/>
          <p:nvPr/>
        </p:nvSpPr>
        <p:spPr>
          <a:xfrm>
            <a:off x="6413500" y="4089400"/>
            <a:ext cx="5397500" cy="66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3. Rebalance partition sizes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000000"/>
                </a:solidFill>
              </a:rPr>
              <a:t>restore equal-sized DP groups</a:t>
            </a:r>
          </a:p>
        </p:txBody>
      </p:sp>
      <p:cxnSp>
        <p:nvCxnSpPr>
          <p:cNvPr id="79" name="Crossover Arrow 80"/>
          <p:cNvCxnSpPr/>
          <p:nvPr/>
        </p:nvCxnSpPr>
        <p:spPr>
          <a:xfrm>
            <a:off x="9112250" y="4749800"/>
            <a:ext cx="0" cy="25400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80" name="Crossover 81"/>
          <p:cNvSpPr/>
          <p:nvPr/>
        </p:nvSpPr>
        <p:spPr>
          <a:xfrm>
            <a:off x="7588250" y="5003800"/>
            <a:ext cx="30480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1376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Offspring o</a:t>
            </a:r>
          </a:p>
        </p:txBody>
      </p:sp>
      <p:sp>
        <p:nvSpPr>
          <p:cNvPr id="81" name="Crossover 82"/>
          <p:cNvSpPr txBox="1"/>
          <p:nvPr/>
        </p:nvSpPr>
        <p:spPr>
          <a:xfrm>
            <a:off x="330200" y="5715000"/>
            <a:ext cx="114808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50800" rIns="91440" bIns="5080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</a:rPr>
              <a:t>* Crossover details follow the HGA method cited in [28] (Kang &amp; Moon, GECCO 2000)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8CD6604-4FCD-72CA-1FE4-B934F648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68" y="4112369"/>
            <a:ext cx="3979864" cy="135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57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206500"/>
            <a:ext cx="11480800" cy="3810000"/>
          </a:xfrm>
        </p:spPr>
        <p:txBody>
          <a:bodyPr>
            <a:normAutofit fontScale="92500" lnSpcReduction="10000"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>
                <a:solidFill>
                  <a:srgbClr val="000000"/>
                </a:solidFill>
              </a:rPr>
              <a:t> Limitation of Kernighan–Lin (KL)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Gain is based on the sum of edge weights between partitions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Greedily following GAIN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KL</a:t>
            </a:r>
            <a:r>
              <a:rPr lang="en-US" altLang="ko-KR" sz="2000" dirty="0">
                <a:solidFill>
                  <a:srgbClr val="000000"/>
                </a:solidFill>
              </a:rPr>
              <a:t> does not reduce FM training cost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>
                <a:solidFill>
                  <a:srgbClr val="000000"/>
                </a:solidFill>
              </a:rPr>
              <a:t> Key Observations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Removing d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1</a:t>
            </a:r>
            <a:r>
              <a:rPr lang="en-US" altLang="ko-KR" sz="2000" dirty="0">
                <a:solidFill>
                  <a:srgbClr val="000000"/>
                </a:solidFill>
              </a:rPr>
              <a:t> from a</a:t>
            </a:r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fast link within </a:t>
            </a:r>
            <a:r>
              <a:rPr lang="en-US" altLang="ko-KR" sz="2000" dirty="0" err="1">
                <a:solidFill>
                  <a:srgbClr val="000000"/>
                </a:solidFill>
              </a:rPr>
              <a:t>C</a:t>
            </a:r>
            <a:r>
              <a:rPr lang="en-US" altLang="ko-KR" sz="2000" baseline="-25000" dirty="0" err="1">
                <a:solidFill>
                  <a:srgbClr val="000000"/>
                </a:solidFill>
              </a:rPr>
              <a:t>j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is unlikely to increase the DP cost</a:t>
            </a:r>
            <a:endParaRPr lang="en-US" altLang="ko-KR" sz="2000" baseline="-25000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Once d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1</a:t>
            </a:r>
            <a:r>
              <a:rPr lang="en-US" altLang="ko-KR" sz="2000" dirty="0">
                <a:solidFill>
                  <a:srgbClr val="000000"/>
                </a:solidFill>
              </a:rPr>
              <a:t> moves to </a:t>
            </a:r>
            <a:r>
              <a:rPr lang="en-US" altLang="ko-KR" sz="2000" dirty="0" err="1">
                <a:solidFill>
                  <a:srgbClr val="000000"/>
                </a:solidFill>
              </a:rPr>
              <a:t>C</a:t>
            </a:r>
            <a:r>
              <a:rPr lang="en-US" altLang="ko-KR" sz="2000" baseline="-25000" dirty="0" err="1">
                <a:solidFill>
                  <a:srgbClr val="000000"/>
                </a:solidFill>
              </a:rPr>
              <a:t>j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'</a:t>
            </a:r>
            <a:r>
              <a:rPr lang="en-US" altLang="ko-KR" sz="2000" dirty="0">
                <a:solidFill>
                  <a:srgbClr val="000000"/>
                </a:solidFill>
              </a:rPr>
              <a:t>, PP matching likely uses the fast link d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1</a:t>
            </a:r>
            <a:r>
              <a:rPr lang="en-US" altLang="ko-KR" sz="2000" dirty="0">
                <a:solidFill>
                  <a:srgbClr val="000000"/>
                </a:solidFill>
              </a:rPr>
              <a:t>↔d</a:t>
            </a:r>
            <a:r>
              <a:rPr lang="en-US" altLang="ko-KR" sz="2000" baseline="-25000" dirty="0">
                <a:solidFill>
                  <a:srgbClr val="000000"/>
                </a:solidFill>
              </a:rPr>
              <a:t>2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200" b="1" dirty="0">
                <a:solidFill>
                  <a:srgbClr val="000000"/>
                </a:solidFill>
              </a:rPr>
              <a:t> Proposed Local Search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Only the fastest link in each group is considered → 4 swap candidates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New gain: expected PP cost before vs. after the swap</a:t>
            </a: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Local Search</a:t>
            </a: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9C8D7A-B912-1D7E-B8E1-4F39EB471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567" y="5378179"/>
            <a:ext cx="9612066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9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AED041DC-6C44-934D-C9D9-275ECB8FC14D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330200" y="1206500"/>
                <a:ext cx="11480800" cy="4699000"/>
              </a:xfrm>
            </p:spPr>
            <p:txBody>
              <a:bodyPr>
                <a:normAutofit/>
              </a:bodyPr>
              <a:lstStyle/>
              <a:p>
                <a:pPr latinLnBrk="0">
                  <a:lnSpc>
                    <a:spcPct val="120000"/>
                  </a:lnSpc>
                  <a:buFont typeface="Wingdings" pitchFamily="2" charset="2"/>
                  <a:buChar char="v"/>
                </a:pPr>
                <a:r>
                  <a:rPr lang="ko-KR" altLang="en-US" sz="2000" b="1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2200" b="1">
                    <a:solidFill>
                      <a:srgbClr val="000000"/>
                    </a:solidFill>
                  </a:rPr>
                  <a:t>Pipeline Stage Decomposition</a:t>
                </a:r>
              </a:p>
              <a:p>
                <a:pPr lvl="1" latinLnBrk="0">
                  <a:lnSpc>
                    <a:spcPct val="120000"/>
                  </a:lnSpc>
                </a:pPr>
                <a:r>
                  <a:rPr lang="en-US" altLang="ko-KR" sz="2000">
                    <a:solidFill>
                      <a:srgbClr val="000000"/>
                    </a:solidFill>
                  </a:rPr>
                  <a:t>Receiving: activations from stage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2000">
                    <a:solidFill>
                      <a:srgbClr val="000000"/>
                    </a:solidFill>
                  </a:rPr>
                  <a:t> / gradients from stage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2000">
                    <a:solidFill>
                      <a:srgbClr val="000000"/>
                    </a:solidFill>
                  </a:rPr>
                  <a:t> </a:t>
                </a:r>
              </a:p>
              <a:p>
                <a:pPr lvl="1" latinLnBrk="0">
                  <a:lnSpc>
                    <a:spcPct val="120000"/>
                  </a:lnSpc>
                </a:pPr>
                <a:r>
                  <a:rPr lang="en-US" altLang="ko-KR" sz="2000">
                    <a:solidFill>
                      <a:srgbClr val="000000"/>
                    </a:solidFill>
                  </a:rPr>
                  <a:t>Computation: forward / backward propagation </a:t>
                </a:r>
              </a:p>
              <a:p>
                <a:pPr lvl="1" latinLnBrk="0">
                  <a:lnSpc>
                    <a:spcPct val="120000"/>
                  </a:lnSpc>
                </a:pPr>
                <a:r>
                  <a:rPr lang="en-US" altLang="ko-KR" sz="2000">
                    <a:solidFill>
                      <a:srgbClr val="000000"/>
                    </a:solidFill>
                  </a:rPr>
                  <a:t>Sending: activations to stage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2000">
                    <a:solidFill>
                      <a:srgbClr val="000000"/>
                    </a:solidFill>
                  </a:rPr>
                  <a:t> / gradients to stage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sz="2000">
                    <a:solidFill>
                      <a:srgbClr val="000000"/>
                    </a:solidFill>
                  </a:rPr>
                  <a:t> </a:t>
                </a:r>
              </a:p>
              <a:p>
                <a:pPr latinLnBrk="0">
                  <a:lnSpc>
                    <a:spcPct val="120000"/>
                  </a:lnSpc>
                  <a:buFont typeface="Wingdings" pitchFamily="2" charset="2"/>
                  <a:buChar char="v"/>
                </a:pPr>
                <a:r>
                  <a:rPr lang="en-US" altLang="ko-KR" sz="2000" b="1">
                    <a:solidFill>
                      <a:srgbClr val="000000"/>
                    </a:solidFill>
                  </a:rPr>
                  <a:t> </a:t>
                </a:r>
                <a:r>
                  <a:rPr lang="en-US" altLang="ko-KR" sz="2200" b="1">
                    <a:solidFill>
                      <a:srgbClr val="000000"/>
                    </a:solidFill>
                  </a:rPr>
                  <a:t>CUDA Stream-based Overlap</a:t>
                </a:r>
              </a:p>
              <a:p>
                <a:pPr lvl="1" latinLnBrk="0">
                  <a:lnSpc>
                    <a:spcPct val="120000"/>
                  </a:lnSpc>
                </a:pPr>
                <a:r>
                  <a:rPr lang="en-US" altLang="ko-KR" sz="2000">
                    <a:solidFill>
                      <a:srgbClr val="000000"/>
                    </a:solidFill>
                  </a:rPr>
                  <a:t>Assign the three slots to separate CUDA streams</a:t>
                </a:r>
              </a:p>
              <a:p>
                <a:pPr lvl="1" latinLnBrk="0">
                  <a:lnSpc>
                    <a:spcPct val="120000"/>
                  </a:lnSpc>
                </a:pPr>
                <a:r>
                  <a:rPr lang="en-US" altLang="ko-KR" sz="2000">
                    <a:solidFill>
                      <a:srgbClr val="000000"/>
                    </a:solidFill>
                  </a:rPr>
                  <a:t>Pipeline communication and computation</a:t>
                </a:r>
              </a:p>
              <a:p>
                <a:pPr lvl="1" latinLnBrk="0">
                  <a:lnSpc>
                    <a:spcPct val="120000"/>
                  </a:lnSpc>
                </a:pPr>
                <a:r>
                  <a:rPr lang="en-US" altLang="ko-KR" sz="2000">
                    <a:solidFill>
                      <a:srgbClr val="000000"/>
                    </a:solidFill>
                  </a:rPr>
                  <a:t>Computation can be fully hidden by communication time</a:t>
                </a:r>
                <a:endParaRPr lang="ko-KR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AED041DC-6C44-934D-C9D9-275ECB8FC1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30200" y="1206500"/>
                <a:ext cx="11480800" cy="4699000"/>
              </a:xfrm>
              <a:blipFill>
                <a:blip r:embed="rId3"/>
                <a:stretch>
                  <a:fillRect l="-478" t="-2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System Optimization – Comm./Comp. Overlap</a:t>
            </a: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1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155699"/>
            <a:ext cx="9410700" cy="4975552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>
                <a:solidFill>
                  <a:srgbClr val="000000"/>
                </a:solidFill>
              </a:rPr>
              <a:t> </a:t>
            </a:r>
            <a:r>
              <a:rPr lang="en-US" altLang="ko-KR" sz="2000" b="1"/>
              <a:t>Model &amp; Hardware</a:t>
            </a:r>
            <a:endParaRPr lang="ko-KR" altLang="en-US" sz="2000" b="1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sz="1800" dirty="0">
                <a:solidFill>
                  <a:srgbClr val="000000"/>
                </a:solidFill>
              </a:rPr>
              <a:t>64 × Tesla V100</a:t>
            </a:r>
            <a:r>
              <a:rPr lang="ko-KR" altLang="en-US" sz="1800">
                <a:solidFill>
                  <a:srgbClr val="000000"/>
                </a:solidFill>
              </a:rPr>
              <a:t>, GPT</a:t>
            </a:r>
            <a:r>
              <a:rPr lang="en-US" altLang="ko-KR" sz="1800">
                <a:solidFill>
                  <a:srgbClr val="000000"/>
                </a:solidFill>
              </a:rPr>
              <a:t>-3</a:t>
            </a:r>
            <a:r>
              <a:rPr lang="ko-KR" altLang="en-US" sz="1800">
                <a:solidFill>
                  <a:srgbClr val="000000"/>
                </a:solidFill>
              </a:rPr>
              <a:t> 1.3B</a:t>
            </a:r>
            <a:endParaRPr lang="en-US" altLang="ko-KR" sz="180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1800">
                <a:solidFill>
                  <a:srgbClr val="000000"/>
                </a:solidFill>
              </a:rPr>
              <a:t>L</a:t>
            </a:r>
            <a:r>
              <a:rPr lang="ko-KR" altLang="en-US" sz="1800">
                <a:solidFill>
                  <a:srgbClr val="000000"/>
                </a:solidFill>
              </a:rPr>
              <a:t>ayers 24 / 32 / 40, </a:t>
            </a:r>
            <a:r>
              <a:rPr lang="en-US" altLang="ko-KR" sz="1800">
                <a:solidFill>
                  <a:srgbClr val="000000"/>
                </a:solidFill>
              </a:rPr>
              <a:t>B</a:t>
            </a:r>
            <a:r>
              <a:rPr lang="ko-KR" altLang="en-US" sz="1800">
                <a:solidFill>
                  <a:srgbClr val="000000"/>
                </a:solidFill>
              </a:rPr>
              <a:t>atch 1024 / 2048 / 4096</a:t>
            </a:r>
            <a:endParaRPr lang="ko-KR" altLang="en-US" sz="2200">
              <a:solidFill>
                <a:srgbClr val="000000"/>
              </a:solidFill>
              <a:latin typeface="+mj-lt"/>
            </a:endParaRP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>
                <a:solidFill>
                  <a:srgbClr val="000000"/>
                </a:solidFill>
              </a:rPr>
              <a:t> </a:t>
            </a:r>
            <a:r>
              <a:rPr lang="en-US" altLang="ko-KR" sz="2000" b="1">
                <a:solidFill>
                  <a:srgbClr val="000000"/>
                </a:solidFill>
              </a:rPr>
              <a:t>N</a:t>
            </a:r>
            <a:r>
              <a:rPr lang="ko-KR" altLang="en-US" sz="2000" b="1">
                <a:solidFill>
                  <a:srgbClr val="000000"/>
                </a:solidFill>
              </a:rPr>
              <a:t>etwork </a:t>
            </a:r>
            <a:r>
              <a:rPr lang="en-US" altLang="ko-KR" sz="2000" b="1">
                <a:solidFill>
                  <a:srgbClr val="000000"/>
                </a:solidFill>
              </a:rPr>
              <a:t>S</a:t>
            </a:r>
            <a:r>
              <a:rPr lang="ko-KR" altLang="en-US" sz="2000" b="1">
                <a:solidFill>
                  <a:srgbClr val="000000"/>
                </a:solidFill>
              </a:rPr>
              <a:t>cenario</a:t>
            </a:r>
            <a:r>
              <a:rPr lang="en-US" altLang="ko-KR" sz="2000" b="1">
                <a:solidFill>
                  <a:srgbClr val="000000"/>
                </a:solidFill>
              </a:rPr>
              <a:t>s</a:t>
            </a:r>
          </a:p>
          <a:p>
            <a:pPr marL="457200" lvl="1" indent="0" latinLnBrk="0">
              <a:lnSpc>
                <a:spcPct val="120000"/>
              </a:lnSpc>
              <a:buNone/>
            </a:pPr>
            <a:r>
              <a:rPr lang="en-US" altLang="ko-KR" sz="1800">
                <a:latin typeface="+mj-lt"/>
              </a:rPr>
              <a:t>Network emulation from 8 AWS-region measurements</a:t>
            </a:r>
            <a:endParaRPr lang="ko-KR" altLang="en-US" sz="1800" b="1">
              <a:solidFill>
                <a:srgbClr val="000000"/>
              </a:solidFill>
              <a:latin typeface="+mj-lt"/>
            </a:endParaRPr>
          </a:p>
          <a:p>
            <a:pPr marL="800100" lvl="1" indent="-342900" latinLnBrk="0">
              <a:lnSpc>
                <a:spcPct val="120000"/>
              </a:lnSpc>
              <a:buFont typeface="+mj-ea"/>
              <a:buAutoNum type="circleNumDbPlain"/>
            </a:pPr>
            <a:r>
              <a:rPr lang="ko-KR" altLang="en-US" sz="1800">
                <a:solidFill>
                  <a:srgbClr val="000000"/>
                </a:solidFill>
              </a:rPr>
              <a:t>Data </a:t>
            </a:r>
            <a:r>
              <a:rPr lang="en-US" altLang="ko-KR" sz="1800">
                <a:solidFill>
                  <a:srgbClr val="000000"/>
                </a:solidFill>
              </a:rPr>
              <a:t>C</a:t>
            </a:r>
            <a:r>
              <a:rPr lang="ko-KR" altLang="en-US" sz="1800">
                <a:solidFill>
                  <a:srgbClr val="000000"/>
                </a:solidFill>
              </a:rPr>
              <a:t>enter </a:t>
            </a:r>
            <a:r>
              <a:rPr lang="en-US" altLang="ko-KR" sz="1800">
                <a:solidFill>
                  <a:srgbClr val="000000"/>
                </a:solidFill>
              </a:rPr>
              <a:t>O</a:t>
            </a:r>
            <a:r>
              <a:rPr lang="ko-KR" altLang="en-US" sz="1800">
                <a:solidFill>
                  <a:srgbClr val="000000"/>
                </a:solidFill>
              </a:rPr>
              <a:t>n</a:t>
            </a:r>
            <a:r>
              <a:rPr lang="en-US" altLang="ko-KR" sz="1800">
                <a:solidFill>
                  <a:srgbClr val="000000"/>
                </a:solidFill>
              </a:rPr>
              <a:t>-D</a:t>
            </a:r>
            <a:r>
              <a:rPr lang="ko-KR" altLang="en-US" sz="1800">
                <a:solidFill>
                  <a:srgbClr val="000000"/>
                </a:solidFill>
              </a:rPr>
              <a:t>emand</a:t>
            </a:r>
            <a:endParaRPr lang="ko-KR" altLang="en-US" sz="1800" dirty="0">
              <a:solidFill>
                <a:srgbClr val="000000"/>
              </a:solidFill>
            </a:endParaRPr>
          </a:p>
          <a:p>
            <a:pPr marL="800100" lvl="1" indent="-342900" latinLnBrk="0">
              <a:lnSpc>
                <a:spcPct val="120000"/>
              </a:lnSpc>
              <a:buFont typeface="+mj-ea"/>
              <a:buAutoNum type="circleNumDbPlain"/>
            </a:pPr>
            <a:r>
              <a:rPr lang="en-US" altLang="ko-KR" sz="1800"/>
              <a:t>Data Center Spot Instances</a:t>
            </a:r>
          </a:p>
          <a:p>
            <a:pPr marL="800100" lvl="1" indent="-342900" latinLnBrk="0">
              <a:lnSpc>
                <a:spcPct val="120000"/>
              </a:lnSpc>
              <a:buFont typeface="+mj-ea"/>
              <a:buAutoNum type="circleNumDbPlain"/>
            </a:pPr>
            <a:r>
              <a:rPr lang="en-US" altLang="ko-KR" sz="1800"/>
              <a:t>Multiple Data Centers</a:t>
            </a:r>
          </a:p>
          <a:p>
            <a:pPr marL="800100" lvl="1" indent="-342900" latinLnBrk="0">
              <a:lnSpc>
                <a:spcPct val="120000"/>
              </a:lnSpc>
              <a:buFont typeface="+mj-ea"/>
              <a:buAutoNum type="circleNumDbPlain"/>
            </a:pPr>
            <a:r>
              <a:rPr lang="en-US" altLang="ko-KR" sz="1800"/>
              <a:t>Regional Geo-distributed</a:t>
            </a:r>
          </a:p>
          <a:p>
            <a:pPr marL="800100" lvl="1" indent="-342900" latinLnBrk="0">
              <a:lnSpc>
                <a:spcPct val="120000"/>
              </a:lnSpc>
              <a:buFont typeface="+mj-ea"/>
              <a:buAutoNum type="circleNumDbPlain"/>
            </a:pPr>
            <a:r>
              <a:rPr lang="en-US" altLang="ko-KR" sz="1800"/>
              <a:t>World-wide Geo-distributed</a:t>
            </a:r>
            <a:endParaRPr lang="ko-KR" altLang="en-US" sz="1800">
              <a:solidFill>
                <a:srgbClr val="000000"/>
              </a:solidFill>
            </a:endParaRP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>
                <a:solidFill>
                  <a:srgbClr val="000000"/>
                </a:solidFill>
              </a:rPr>
              <a:t> Baseline</a:t>
            </a:r>
            <a:r>
              <a:rPr lang="en-US" altLang="ko-KR" sz="2000" b="1">
                <a:solidFill>
                  <a:srgbClr val="000000"/>
                </a:solidFill>
              </a:rPr>
              <a:t>s</a:t>
            </a:r>
            <a:endParaRPr lang="ko-KR" altLang="en-US" sz="2000" b="1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sz="1800">
                <a:solidFill>
                  <a:srgbClr val="000000"/>
                </a:solidFill>
              </a:rPr>
              <a:t>Megatron, DeepSpeed </a:t>
            </a:r>
            <a:r>
              <a:rPr lang="en-US" altLang="ko-KR" sz="1400"/>
              <a:t>(parallelism tuned per scenario)</a:t>
            </a:r>
            <a:endParaRPr lang="ko-KR" altLang="en-US" sz="1800" dirty="0">
              <a:solidFill>
                <a:srgbClr val="000000"/>
              </a:solidFill>
            </a:endParaRP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Evaluation Setup</a:t>
            </a: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2236DF-4E7F-54ED-722C-E5D8695A2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47" y="1240064"/>
            <a:ext cx="4277073" cy="20742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7781D25-3794-606A-844B-7FCFD0A54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008" y="3433962"/>
            <a:ext cx="4207512" cy="250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26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206500"/>
            <a:ext cx="8280400" cy="4762500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 dirty="0">
                <a:solidFill>
                  <a:srgbClr val="000000"/>
                </a:solidFill>
              </a:rPr>
              <a:t> DT-FM vs Megatron / DeepSpeed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sz="1800" dirty="0">
                <a:solidFill>
                  <a:srgbClr val="000000"/>
                </a:solidFill>
              </a:rPr>
              <a:t>World-</a:t>
            </a:r>
            <a:r>
              <a:rPr lang="ko-KR" altLang="en-US" sz="1800" dirty="0" err="1">
                <a:solidFill>
                  <a:srgbClr val="000000"/>
                </a:solidFill>
              </a:rPr>
              <a:t>wide</a:t>
            </a:r>
            <a:r>
              <a:rPr lang="ko-KR" altLang="en-US" sz="1800" dirty="0">
                <a:solidFill>
                  <a:srgbClr val="000000"/>
                </a:solidFill>
              </a:rPr>
              <a:t> </a:t>
            </a:r>
            <a:r>
              <a:rPr lang="en-US" altLang="ko-KR" sz="1800" dirty="0">
                <a:solidFill>
                  <a:srgbClr val="000000"/>
                </a:solidFill>
              </a:rPr>
              <a:t>(Case </a:t>
            </a:r>
            <a:r>
              <a:rPr lang="ko-KR" altLang="en-US" sz="1800" dirty="0">
                <a:solidFill>
                  <a:srgbClr val="000000"/>
                </a:solidFill>
              </a:rPr>
              <a:t>⑤</a:t>
            </a:r>
            <a:r>
              <a:rPr lang="en-US" altLang="ko-KR" sz="1800" dirty="0">
                <a:solidFill>
                  <a:srgbClr val="000000"/>
                </a:solidFill>
              </a:rPr>
              <a:t>)</a:t>
            </a:r>
            <a:r>
              <a:rPr lang="ko-KR" altLang="en-US" sz="1800" dirty="0">
                <a:solidFill>
                  <a:srgbClr val="000000"/>
                </a:solidFill>
              </a:rPr>
              <a:t>: </a:t>
            </a:r>
            <a:r>
              <a:rPr lang="ko-KR" altLang="en-US" sz="1800" b="1" dirty="0">
                <a:solidFill>
                  <a:srgbClr val="000000"/>
                </a:solidFill>
              </a:rPr>
              <a:t>4.8×</a:t>
            </a:r>
            <a:r>
              <a:rPr lang="ko-KR" altLang="en-US" sz="1800" dirty="0">
                <a:solidFill>
                  <a:srgbClr val="000000"/>
                </a:solidFill>
              </a:rPr>
              <a:t> </a:t>
            </a:r>
            <a:r>
              <a:rPr lang="en-US" altLang="ko-KR" sz="1800" dirty="0">
                <a:solidFill>
                  <a:srgbClr val="000000"/>
                </a:solidFill>
              </a:rPr>
              <a:t>vs. Megatron</a:t>
            </a:r>
            <a:r>
              <a:rPr lang="ko-KR" altLang="en-US" sz="1800" dirty="0">
                <a:solidFill>
                  <a:srgbClr val="000000"/>
                </a:solidFill>
              </a:rPr>
              <a:t>, </a:t>
            </a:r>
            <a:r>
              <a:rPr lang="ko-KR" altLang="en-US" sz="1800" b="1" dirty="0">
                <a:solidFill>
                  <a:srgbClr val="000000"/>
                </a:solidFill>
              </a:rPr>
              <a:t>3.6×</a:t>
            </a:r>
            <a:r>
              <a:rPr lang="ko-KR" altLang="en-US" sz="1800" dirty="0">
                <a:solidFill>
                  <a:srgbClr val="000000"/>
                </a:solidFill>
              </a:rPr>
              <a:t> </a:t>
            </a:r>
            <a:r>
              <a:rPr lang="en-US" altLang="ko-KR" sz="1800" dirty="0">
                <a:solidFill>
                  <a:srgbClr val="000000"/>
                </a:solidFill>
              </a:rPr>
              <a:t>vs. </a:t>
            </a:r>
            <a:r>
              <a:rPr lang="en-US" altLang="ko-KR" sz="1800" dirty="0" err="1">
                <a:solidFill>
                  <a:srgbClr val="000000"/>
                </a:solidFill>
              </a:rPr>
              <a:t>DeepSpeed</a:t>
            </a:r>
            <a:endParaRPr lang="ko-KR" altLang="en-US" sz="1800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1800" dirty="0">
                <a:solidFill>
                  <a:srgbClr val="000000"/>
                </a:solidFill>
              </a:rPr>
              <a:t>Cases </a:t>
            </a:r>
            <a:r>
              <a:rPr lang="ko-KR" altLang="en-US" sz="1800" dirty="0">
                <a:solidFill>
                  <a:srgbClr val="000000"/>
                </a:solidFill>
              </a:rPr>
              <a:t>①–④: 1.2–2.5× speedup</a:t>
            </a: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 dirty="0">
                <a:solidFill>
                  <a:srgbClr val="000000"/>
                </a:solidFill>
              </a:rPr>
              <a:t> </a:t>
            </a:r>
            <a:r>
              <a:rPr lang="ko-KR" altLang="en-US" sz="2000" b="1" dirty="0" err="1">
                <a:solidFill>
                  <a:srgbClr val="000000"/>
                </a:solidFill>
              </a:rPr>
              <a:t>Decentralized</a:t>
            </a:r>
            <a:r>
              <a:rPr lang="ko-KR" altLang="en-US" sz="2000" b="1" dirty="0">
                <a:solidFill>
                  <a:srgbClr val="000000"/>
                </a:solidFill>
              </a:rPr>
              <a:t> </a:t>
            </a:r>
            <a:r>
              <a:rPr lang="ko-KR" altLang="en-US" sz="2000" b="1" dirty="0" err="1">
                <a:solidFill>
                  <a:srgbClr val="000000"/>
                </a:solidFill>
              </a:rPr>
              <a:t>vs</a:t>
            </a:r>
            <a:r>
              <a:rPr lang="en-US" altLang="ko-KR" sz="2000" b="1" dirty="0">
                <a:solidFill>
                  <a:srgbClr val="000000"/>
                </a:solidFill>
              </a:rPr>
              <a:t>.</a:t>
            </a:r>
            <a:r>
              <a:rPr lang="ko-KR" altLang="en-US" sz="2000" b="1" dirty="0">
                <a:solidFill>
                  <a:srgbClr val="000000"/>
                </a:solidFill>
              </a:rPr>
              <a:t> Datacenter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800" dirty="0"/>
              <a:t>DT-FM in Case</a:t>
            </a:r>
            <a:r>
              <a:rPr lang="en-US" altLang="ko-KR" sz="1800" b="1" dirty="0"/>
              <a:t> </a:t>
            </a:r>
            <a:r>
              <a:rPr lang="ko-KR" altLang="en-US" sz="1800" dirty="0">
                <a:solidFill>
                  <a:srgbClr val="000000"/>
                </a:solidFill>
              </a:rPr>
              <a:t>⑤</a:t>
            </a:r>
            <a:r>
              <a:rPr lang="en-US" altLang="ko-KR" sz="1800" dirty="0"/>
              <a:t> is only </a:t>
            </a:r>
            <a:r>
              <a:rPr lang="en-US" altLang="ko-KR" sz="1800" b="1" dirty="0"/>
              <a:t>1.7–3.5× slower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	than Megatron / </a:t>
            </a:r>
            <a:r>
              <a:rPr lang="en-US" altLang="ko-KR" sz="1800" dirty="0" err="1"/>
              <a:t>DeepSpeed</a:t>
            </a:r>
            <a:r>
              <a:rPr lang="en-US" altLang="ko-KR" sz="1800" dirty="0"/>
              <a:t> in Case </a:t>
            </a:r>
            <a:r>
              <a:rPr lang="ko-KR" altLang="en-US" sz="1800" dirty="0">
                <a:solidFill>
                  <a:srgbClr val="000000"/>
                </a:solidFill>
              </a:rPr>
              <a:t>①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800" dirty="0">
                <a:latin typeface="+mj-lt"/>
              </a:rPr>
              <a:t>Despite networks being up to </a:t>
            </a:r>
            <a:r>
              <a:rPr lang="en-US" altLang="ko-KR" sz="1800" b="1" dirty="0">
                <a:latin typeface="+mj-lt"/>
              </a:rPr>
              <a:t>100× slower</a:t>
            </a:r>
            <a:endParaRPr lang="ko-KR" altLang="en-US" sz="1800" dirty="0">
              <a:solidFill>
                <a:srgbClr val="000000"/>
              </a:solidFill>
              <a:latin typeface="+mj-lt"/>
            </a:endParaRP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</a:rPr>
              <a:t>Scaling Trend</a:t>
            </a:r>
            <a:endParaRPr lang="ko-KR" altLang="en-US" sz="2000" b="1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1800" dirty="0">
                <a:solidFill>
                  <a:srgbClr val="000000"/>
                </a:solidFill>
              </a:rPr>
              <a:t>Larger batch size → DP communication cost remains unchanged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1800" dirty="0">
                <a:solidFill>
                  <a:srgbClr val="000000"/>
                </a:solidFill>
              </a:rPr>
              <a:t>More layers per device → PP communication cost remains unchanged</a:t>
            </a:r>
          </a:p>
          <a:p>
            <a:pPr marL="457200" lvl="1" indent="0" latinLnBrk="0">
              <a:lnSpc>
                <a:spcPct val="120000"/>
              </a:lnSpc>
              <a:buNone/>
            </a:pPr>
            <a:r>
              <a:rPr lang="en-US" altLang="ko-KR" sz="1800" dirty="0">
                <a:solidFill>
                  <a:srgbClr val="000000"/>
                </a:solidFill>
              </a:rPr>
              <a:t>→ Performance gap narrows for larger workloads</a:t>
            </a:r>
            <a:endParaRPr lang="ko-KR" altLang="en-US" sz="1800" dirty="0">
              <a:solidFill>
                <a:srgbClr val="000000"/>
              </a:solidFill>
            </a:endParaRP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End-to-End Performance</a:t>
            </a: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C741A2-7C1C-49DA-40D6-EB1972773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138" y="1006534"/>
            <a:ext cx="3504169" cy="25312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9D1CD39-549F-4321-BE52-11CB1B1D5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138" y="3605221"/>
            <a:ext cx="3535525" cy="24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40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206500"/>
            <a:ext cx="11480800" cy="3175000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  <a:latin typeface="+mj-lt"/>
              </a:rPr>
              <a:t>Scheduler vs. Random Assignment</a:t>
            </a:r>
            <a:endParaRPr lang="ko-KR" altLang="en-US" sz="2200" b="1" dirty="0">
              <a:solidFill>
                <a:srgbClr val="000000"/>
              </a:solidFill>
              <a:latin typeface="+mj-lt"/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Disable the scheduler → use random assignment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Scheduler achieves up to </a:t>
            </a:r>
            <a:r>
              <a:rPr lang="en-US" altLang="ko-KR" sz="2000" b="1" dirty="0">
                <a:solidFill>
                  <a:srgbClr val="000000"/>
                </a:solidFill>
              </a:rPr>
              <a:t>2.7× speedup </a:t>
            </a:r>
            <a:r>
              <a:rPr lang="en-US" altLang="ko-KR" sz="2000" dirty="0">
                <a:solidFill>
                  <a:srgbClr val="000000"/>
                </a:solidFill>
              </a:rPr>
              <a:t>in the world-wide setting (case </a:t>
            </a:r>
            <a:r>
              <a:rPr lang="ko-KR" altLang="en-US" sz="2000" dirty="0">
                <a:solidFill>
                  <a:srgbClr val="000000"/>
                </a:solidFill>
              </a:rPr>
              <a:t>⑤</a:t>
            </a:r>
            <a:r>
              <a:rPr lang="en-US" altLang="ko-KR" sz="2000" dirty="0">
                <a:solidFill>
                  <a:srgbClr val="000000"/>
                </a:solidFill>
              </a:rPr>
              <a:t>)</a:t>
            </a:r>
            <a:endParaRPr lang="ko-KR" altLang="en-US" sz="2000" dirty="0">
              <a:solidFill>
                <a:srgbClr val="000000"/>
              </a:solidFill>
            </a:endParaRP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>
                <a:solidFill>
                  <a:srgbClr val="000000"/>
                </a:solidFill>
              </a:rPr>
              <a:t> </a:t>
            </a:r>
            <a:r>
              <a:rPr lang="ko-KR" altLang="en-US" sz="2200" b="1" dirty="0" err="1">
                <a:solidFill>
                  <a:srgbClr val="000000"/>
                </a:solidFill>
              </a:rPr>
              <a:t>Local</a:t>
            </a:r>
            <a:r>
              <a:rPr lang="ko-KR" altLang="en-US" sz="2200" b="1" dirty="0">
                <a:solidFill>
                  <a:srgbClr val="000000"/>
                </a:solidFill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</a:rPr>
              <a:t>S</a:t>
            </a:r>
            <a:r>
              <a:rPr lang="ko-KR" altLang="en-US" sz="2200" b="1" dirty="0" err="1">
                <a:solidFill>
                  <a:srgbClr val="000000"/>
                </a:solidFill>
              </a:rPr>
              <a:t>earch</a:t>
            </a:r>
            <a:r>
              <a:rPr lang="ko-KR" altLang="en-US" sz="2200" b="1" dirty="0">
                <a:solidFill>
                  <a:srgbClr val="000000"/>
                </a:solidFill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</a:rPr>
              <a:t>Comparison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HGA + Kernighan-Lin vs. HGA + proposed local search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Both outperform random search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Proposed local search achieves lower estimated cost than KL</a:t>
            </a:r>
            <a:endParaRPr lang="ko-KR" altLang="en-US" sz="2000" dirty="0">
              <a:solidFill>
                <a:srgbClr val="000000"/>
              </a:solidFill>
            </a:endParaRP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/>
              <a:t>Effectiveness of Scheduler</a:t>
            </a:r>
            <a:endParaRPr lang="en-US" altLang="ko-KR" sz="3200" b="1" dirty="0"/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1119F53-04CB-112C-5D5D-948854D5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592" y="4381500"/>
            <a:ext cx="9434816" cy="201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75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D041DC-6C44-934D-C9D9-275ECB8FC14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0200" y="1206500"/>
            <a:ext cx="11480800" cy="4762500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>
                <a:solidFill>
                  <a:srgbClr val="000000"/>
                </a:solidFill>
              </a:rPr>
              <a:t> Conclusion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Formulate FM training over heterogeneous networks as a </a:t>
            </a:r>
            <a:r>
              <a:rPr lang="en-US" altLang="ko-KR" sz="2000" b="1" dirty="0" err="1">
                <a:solidFill>
                  <a:srgbClr val="000000"/>
                </a:solidFill>
              </a:rPr>
              <a:t>tasklet</a:t>
            </a:r>
            <a:r>
              <a:rPr lang="en-US" altLang="ko-KR" sz="2000" b="1" dirty="0">
                <a:solidFill>
                  <a:srgbClr val="000000"/>
                </a:solidFill>
              </a:rPr>
              <a:t> allocation problem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b="1" dirty="0">
                <a:solidFill>
                  <a:srgbClr val="000000"/>
                </a:solidFill>
              </a:rPr>
              <a:t>Bi-level cost model + Hybrid GA </a:t>
            </a:r>
            <a:r>
              <a:rPr lang="en-US" altLang="ko-KR" sz="2000" dirty="0">
                <a:solidFill>
                  <a:srgbClr val="000000"/>
                </a:solidFill>
              </a:rPr>
              <a:t>for topology-aware DP / PP scheduling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Runtime optimization via </a:t>
            </a:r>
            <a:r>
              <a:rPr lang="en-US" altLang="ko-KR" sz="2000" b="1" dirty="0">
                <a:solidFill>
                  <a:srgbClr val="000000"/>
                </a:solidFill>
              </a:rPr>
              <a:t>communication / computation overlap 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Up to </a:t>
            </a:r>
            <a:r>
              <a:rPr lang="en-US" altLang="ko-KR" sz="2000" b="1" dirty="0">
                <a:solidFill>
                  <a:srgbClr val="000000"/>
                </a:solidFill>
              </a:rPr>
              <a:t>4.8× speedup </a:t>
            </a:r>
            <a:r>
              <a:rPr lang="en-US" altLang="ko-KR" sz="2000" dirty="0">
                <a:solidFill>
                  <a:srgbClr val="000000"/>
                </a:solidFill>
              </a:rPr>
              <a:t>over prior SOTA in the world-wide setting</a:t>
            </a:r>
            <a:endParaRPr lang="ko-KR" altLang="en-US" sz="2000" dirty="0">
              <a:solidFill>
                <a:srgbClr val="000000"/>
              </a:solidFill>
            </a:endParaRPr>
          </a:p>
          <a:p>
            <a:pPr latinLnBrk="0">
              <a:lnSpc>
                <a:spcPct val="120000"/>
              </a:lnSpc>
              <a:buFont typeface="Wingdings" pitchFamily="2" charset="2"/>
              <a:buChar char="v"/>
            </a:pPr>
            <a:r>
              <a:rPr lang="ko-KR" altLang="en-US" sz="2200" b="1" dirty="0">
                <a:solidFill>
                  <a:srgbClr val="000000"/>
                </a:solidFill>
              </a:rPr>
              <a:t> </a:t>
            </a:r>
            <a:r>
              <a:rPr lang="ko-KR" altLang="en-US" sz="2200" b="1" dirty="0" err="1">
                <a:solidFill>
                  <a:srgbClr val="000000"/>
                </a:solidFill>
              </a:rPr>
              <a:t>Limitations</a:t>
            </a:r>
            <a:r>
              <a:rPr lang="ko-KR" altLang="en-US" sz="2200" b="1" dirty="0">
                <a:solidFill>
                  <a:srgbClr val="000000"/>
                </a:solidFill>
              </a:rPr>
              <a:t> &amp; Future </a:t>
            </a:r>
            <a:r>
              <a:rPr lang="ko-KR" altLang="en-US" sz="2200" b="1" dirty="0" err="1">
                <a:solidFill>
                  <a:srgbClr val="000000"/>
                </a:solidFill>
              </a:rPr>
              <a:t>work</a:t>
            </a:r>
            <a:endParaRPr lang="ko-KR" altLang="en-US" sz="2200" b="1" dirty="0">
              <a:solidFill>
                <a:srgbClr val="000000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Assumes stable communication and always-online devices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sz="2000" dirty="0">
                <a:solidFill>
                  <a:srgbClr val="000000"/>
                </a:solidFill>
              </a:rPr>
              <a:t>Future work: dynamic re-scheduling &amp; checkpointing-based fault tolerance</a:t>
            </a:r>
          </a:p>
        </p:txBody>
      </p:sp>
      <p:sp>
        <p:nvSpPr>
          <p:cNvPr id="11" name="Google Shape;18;p9">
            <a:extLst>
              <a:ext uri="{FF2B5EF4-FFF2-40B4-BE49-F238E27FC236}">
                <a16:creationId xmlns:a16="http://schemas.microsoft.com/office/drawing/2014/main" id="{7EBA445B-9F2C-0ACB-3535-A7226D005566}"/>
              </a:ext>
            </a:extLst>
          </p:cNvPr>
          <p:cNvSpPr/>
          <p:nvPr/>
        </p:nvSpPr>
        <p:spPr>
          <a:xfrm flipV="1">
            <a:off x="-1" y="6131251"/>
            <a:ext cx="12191999" cy="21600"/>
          </a:xfrm>
          <a:prstGeom prst="rect">
            <a:avLst/>
          </a:prstGeom>
          <a:solidFill>
            <a:srgbClr val="101376"/>
          </a:solidFill>
          <a:ln w="12700" cap="flat" cmpd="sng">
            <a:solidFill>
              <a:srgbClr val="1013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제목 3">
            <a:extLst>
              <a:ext uri="{FF2B5EF4-FFF2-40B4-BE49-F238E27FC236}">
                <a16:creationId xmlns:a16="http://schemas.microsoft.com/office/drawing/2014/main" id="{DEC4B4C8-1BD6-820C-D884-467645AB229A}"/>
              </a:ext>
            </a:extLst>
          </p:cNvPr>
          <p:cNvSpPr txBox="1">
            <a:spLocks/>
          </p:cNvSpPr>
          <p:nvPr/>
        </p:nvSpPr>
        <p:spPr>
          <a:xfrm>
            <a:off x="334860" y="36254"/>
            <a:ext cx="10515600" cy="893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Conclusion &amp; Limitations</a:t>
            </a:r>
          </a:p>
        </p:txBody>
      </p:sp>
      <p:sp>
        <p:nvSpPr>
          <p:cNvPr id="18" name="Google Shape;27;p10">
            <a:extLst>
              <a:ext uri="{FF2B5EF4-FFF2-40B4-BE49-F238E27FC236}">
                <a16:creationId xmlns:a16="http://schemas.microsoft.com/office/drawing/2014/main" id="{83BE1103-458B-9DFC-D887-C800C6BCBBE8}"/>
              </a:ext>
            </a:extLst>
          </p:cNvPr>
          <p:cNvSpPr/>
          <p:nvPr/>
        </p:nvSpPr>
        <p:spPr>
          <a:xfrm flipV="1">
            <a:off x="0" y="911478"/>
            <a:ext cx="12192000" cy="36000"/>
          </a:xfrm>
          <a:prstGeom prst="rect">
            <a:avLst/>
          </a:prstGeom>
          <a:solidFill>
            <a:srgbClr val="FA8131"/>
          </a:solidFill>
          <a:ln w="12700" cap="flat" cmpd="sng">
            <a:solidFill>
              <a:srgbClr val="FA81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8CD50E-6E30-55EB-5CE6-A2355BDC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F6D506-1443-4600-8F2E-8AA62471D0E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2CCF3-4419-2E9B-BCCE-DF996D61DBA2}"/>
              </a:ext>
            </a:extLst>
          </p:cNvPr>
          <p:cNvSpPr txBox="1"/>
          <p:nvPr/>
        </p:nvSpPr>
        <p:spPr>
          <a:xfrm>
            <a:off x="1331822" y="5059721"/>
            <a:ext cx="9528352" cy="70788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b="1" dirty="0"/>
              <a:t>Later systems (e.g., SWARM, </a:t>
            </a:r>
            <a:r>
              <a:rPr lang="en-US" altLang="ko-KR" sz="2000" b="1" dirty="0" err="1"/>
              <a:t>DiLoCo</a:t>
            </a:r>
            <a:r>
              <a:rPr lang="en-US" altLang="ko-KR" sz="2000" b="1" dirty="0"/>
              <a:t>)</a:t>
            </a:r>
            <a:r>
              <a:rPr lang="en-US" altLang="ko-KR" sz="2000" dirty="0"/>
              <a:t>: failure handling &amp; dynamic availability under different training paradigms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87763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0BB6-19EF-726D-5A87-0AD8D479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966E-410D-95D8-12C5-37F692EEA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 b="1" dirty="0"/>
          </a:p>
          <a:p>
            <a:pPr marL="0" indent="0">
              <a:buNone/>
            </a:pPr>
            <a:endParaRPr lang="en-KR" b="1" dirty="0"/>
          </a:p>
          <a:p>
            <a:endParaRPr lang="en-KR" b="1" dirty="0"/>
          </a:p>
          <a:p>
            <a:pPr marL="0" indent="0" algn="ctr">
              <a:buNone/>
            </a:pPr>
            <a:r>
              <a:rPr lang="en-KR" sz="3200" b="1" dirty="0"/>
              <a:t>Thank You!</a:t>
            </a:r>
          </a:p>
          <a:p>
            <a:pPr marL="0" indent="0" algn="ctr">
              <a:buNone/>
            </a:pPr>
            <a:endParaRPr lang="en-KR" sz="2400" b="1" dirty="0"/>
          </a:p>
          <a:p>
            <a:pPr marL="0" indent="0" algn="ctr">
              <a:buNone/>
            </a:pPr>
            <a:r>
              <a:rPr lang="en-US" altLang="ko-KR" sz="2000" b="1" dirty="0">
                <a:solidFill>
                  <a:srgbClr val="1F1F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({scloin9763, </a:t>
            </a:r>
            <a:r>
              <a:rPr lang="en-US" altLang="ko-KR" sz="2000" b="1" dirty="0" err="1">
                <a:solidFill>
                  <a:srgbClr val="1F1F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ijieun</a:t>
            </a:r>
            <a:r>
              <a:rPr lang="en-US" altLang="ko-KR" sz="2000" b="1" dirty="0">
                <a:solidFill>
                  <a:srgbClr val="1F1F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}@</a:t>
            </a:r>
            <a:r>
              <a:rPr lang="en-US" altLang="ko-KR" sz="2000" b="1" dirty="0" err="1">
                <a:solidFill>
                  <a:srgbClr val="1F1F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snu.ac.kr</a:t>
            </a:r>
            <a:r>
              <a:rPr lang="en-US" altLang="ko-KR" sz="2000" b="1" dirty="0">
                <a:solidFill>
                  <a:srgbClr val="1F1F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  <a:endParaRPr lang="en-KR" altLang="ko-KR" sz="2000" b="1" dirty="0">
              <a:solidFill>
                <a:srgbClr val="1F1F1F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C69EE-D349-1F72-E54F-2E4D32ED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697E-0CA9-4141-9D01-A44F280E3453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323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2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2372DF-231D-4EA1-876F-112AD91F642E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82cfb1ad-10e7-4abc-9a41-3f50d6eb857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0DA4FD6EF539B4E811398514CCBA823" ma:contentTypeVersion="3" ma:contentTypeDescription="새 문서를 만듭니다." ma:contentTypeScope="" ma:versionID="78c5ba370abfe3486f5b1dcf897ecb08">
  <xsd:schema xmlns:xsd="http://www.w3.org/2001/XMLSchema" xmlns:xs="http://www.w3.org/2001/XMLSchema" xmlns:p="http://schemas.microsoft.com/office/2006/metadata/properties" xmlns:ns3="01c63500-824b-4953-9511-63e8e7cfc858" targetNamespace="http://schemas.microsoft.com/office/2006/metadata/properties" ma:root="true" ma:fieldsID="bb1dfdac58fa4670207424b1b0f056aa" ns3:_="">
    <xsd:import namespace="01c63500-824b-4953-9511-63e8e7cfc8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63500-824b-4953-9511-63e8e7cfc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50B5AB-BFA5-4958-ADC6-4AA9887172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c63500-824b-4953-9511-63e8e7cfc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373DEE-29CF-43F8-BD89-EF43894D80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9A44D2-239C-494C-92C7-9552458058D8}">
  <ds:schemaRefs>
    <ds:schemaRef ds:uri="http://purl.org/dc/elements/1.1/"/>
    <ds:schemaRef ds:uri="http://www.w3.org/XML/1998/namespace"/>
    <ds:schemaRef ds:uri="http://schemas.microsoft.com/office/2006/metadata/properties"/>
    <ds:schemaRef ds:uri="01c63500-824b-4953-9511-63e8e7cfc858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1301</Words>
  <Application>Microsoft Office PowerPoint</Application>
  <PresentationFormat>와이드스크린</PresentationFormat>
  <Paragraphs>223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Aptos</vt:lpstr>
      <vt:lpstr>Arial</vt:lpstr>
      <vt:lpstr>Cambria Math</vt:lpstr>
      <vt:lpstr>Verdana</vt:lpstr>
      <vt:lpstr>Wingdings</vt:lpstr>
      <vt:lpstr>Office 테마</vt:lpstr>
      <vt:lpstr>Decentralized Training of Foundation Models in Heterogeneous Environments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CBDC 활용성 테스트 DCSLab. 참여 방안 검토</dc:title>
  <dc:creator>송효진</dc:creator>
  <cp:lastModifiedBy>수호 장</cp:lastModifiedBy>
  <cp:revision>30</cp:revision>
  <dcterms:created xsi:type="dcterms:W3CDTF">2023-11-14T08:14:27Z</dcterms:created>
  <dcterms:modified xsi:type="dcterms:W3CDTF">2026-10-12T08:05:56Z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0x010100B0DA4FD6EF539B4E811398514CCBA823</vt:lpwstr>
  </property>
</Properties>
</file>